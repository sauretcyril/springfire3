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13" r:id="rId2"/>
  </p:sldMasterIdLst>
  <p:notesMasterIdLst>
    <p:notesMasterId r:id="rId11"/>
  </p:notesMasterIdLst>
  <p:sldIdLst>
    <p:sldId id="256" r:id="rId3"/>
    <p:sldId id="257" r:id="rId4"/>
    <p:sldId id="261" r:id="rId5"/>
    <p:sldId id="262" r:id="rId6"/>
    <p:sldId id="264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8580FD-3A01-4E25-BB8E-9424F16A8E5F}" v="9" dt="2024-12-18T17:27:11.6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43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82EE9ABF-9AF0-888E-F80E-4CD923809444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279EFFB-7321-D25B-568E-44E47520A599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fld id="{E3E7529C-2307-42DF-B0FD-912B66FEFA84}" type="datetime1">
              <a:rPr lang="fr-FR"/>
              <a:pPr lvl="0"/>
              <a:t>21/12/2024</a:t>
            </a:fld>
            <a:endParaRPr lang="fr-FR"/>
          </a:p>
        </p:txBody>
      </p:sp>
      <p:sp>
        <p:nvSpPr>
          <p:cNvPr id="4" name="Espace réservé de l'image des diapositives 3">
            <a:extLst>
              <a:ext uri="{FF2B5EF4-FFF2-40B4-BE49-F238E27FC236}">
                <a16:creationId xmlns:a16="http://schemas.microsoft.com/office/drawing/2014/main" id="{F454506A-F75C-F170-0D71-FD8906073D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Espace réservé des notes 4">
            <a:extLst>
              <a:ext uri="{FF2B5EF4-FFF2-40B4-BE49-F238E27FC236}">
                <a16:creationId xmlns:a16="http://schemas.microsoft.com/office/drawing/2014/main" id="{11DD8FEE-7495-2E04-8262-51853E03F10E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EFC21F2-6F87-6579-4AF4-D2479592E7B3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E32212E-EA10-D134-CBF7-791EC2C0A15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fld id="{F7D4BCD2-AAE4-4DC7-A028-3D75FA349A51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7078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Aptos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Aptos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Aptos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Aptos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Apto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045E9C-2A58-E27B-8090-658147671A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3AAFB6-46BF-BB5C-6098-A4FFF53E246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B0E1B2-2F6B-3DFB-B2B9-BA63AD504C16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B19DD98-4F36-45E8-8646-F0B8C0BD06D1}" type="slidenum">
              <a:t>3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310DE1-50CC-F270-6A25-E4E90C7ACB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5C5E8B-148F-70C9-E1EB-985B208ACFE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2A811D-49D8-662A-5456-C8C616C4F582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40A3814-7838-4260-91B1-970B0C95FFC3}" type="slidenum">
              <a:t>4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B54736-D4D3-24EE-1470-BA1EE42D682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CD0EBB1-2A7A-C617-A998-C883E2D7067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CC16CA8-25CC-83FE-5137-B812502CBA5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10FDD36-5C80-45DC-830E-A6A946ECEA90}" type="datetime1">
              <a:rPr lang="fr-FR"/>
              <a:pPr lvl="0"/>
              <a:t>21/12/2024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509302E-7EE9-13B7-ACAE-A37DDDAC257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8135A46-6D3B-0FBF-1332-ED0F944A6B4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0A0E220-612D-46AE-B9D3-6DBBA976311C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9980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5667B5-4A0A-AE0E-8439-325F9D24783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45D167-C4AC-336D-7143-D9E8253C5676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752B07C-18CF-FE1A-42A6-EAB479BE7ED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812BDA6-2D4A-4D5E-98C5-3574ED4DE226}" type="datetime1">
              <a:rPr lang="fr-FR"/>
              <a:pPr lvl="0"/>
              <a:t>21/12/2024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039B405-4DD9-F7B8-7C88-077EFD036BA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99EF794-5903-C928-3BFB-FEBBFE91A4D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1FF3DC1-D23B-4B67-9150-DA6E1F1A317F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8149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71E639-76E3-5B3A-E4FE-A754A50483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859BC63-858A-6D3F-54D0-F178BE4EEC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E5EB23-1ADD-F5BC-E7A7-1D2F1E91F23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839C926-902C-463A-A30E-C7B2A1B3A656}" type="datetime1">
              <a:rPr lang="fr-FR"/>
              <a:pPr lvl="0"/>
              <a:t>21/12/2024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D5960DF-0911-8E69-5D38-30E86174D07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2757307-61E2-4711-295A-50F93AC5C9D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89608A9-407D-404C-A080-0F17EC67B5FE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4240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DF6CA1-4D38-4B57-1868-C84B2D16ED7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3CF2D79-10D8-7181-F6C6-C7611A05F6F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BDDF56B-7A1A-0D95-3171-3B69A0B35F5B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190424C-FCE1-174F-07AA-12FF3A9A2F6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6E18219-D6E8-458F-A788-1F3DFB63FF94}" type="datetime1">
              <a:rPr lang="fr-FR"/>
              <a:pPr lvl="0"/>
              <a:t>21/12/2024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B085BB7-C85B-AEEF-8B8B-6264F283BB7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D5E1FEA-092D-3A71-7DA8-DC70BA7F6C3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3F416E2-5827-405F-A729-88D4B99582CE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6003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6C2AC8-D59F-1825-C340-000122BEF7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2A62402-323B-62C7-E867-6B6129A3FD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75447BE-CABA-71C4-8165-386D71EDB2C8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746904F-9F50-87A0-F6A5-B8B228EB1436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C4446B0-B338-58E7-4615-948535923617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EC9CF78-C69C-1FF5-36D6-96F6767D035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3649AE9-DEFD-4394-B602-8CCAE53769A1}" type="datetime1">
              <a:rPr lang="fr-FR"/>
              <a:pPr lvl="0"/>
              <a:t>21/12/2024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A41C121-38C9-BAB7-07F1-71F84B837AA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7F5F76F-499F-7443-2F04-B0699DEB290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7142718-645E-4910-AB5D-6B8F0E0C1153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1614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CA59CC-3C15-C93C-25F2-50383D15CC2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A23AD0F-1C4D-655E-ADB2-B419E24D6E5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08E8616-4744-4F3F-808C-DD03AE470F42}" type="datetime1">
              <a:rPr lang="fr-FR"/>
              <a:pPr lvl="0"/>
              <a:t>21/12/2024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D611831-2FAA-7F80-5DE2-938B66A7AE6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4F38A7B-E87E-F06F-A5C0-9079D144308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06E7931-598F-4A11-8B48-F268BD88FFF4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9488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AF9A6CB-BDCD-030B-C5F1-2C15D4C43A3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DEE4DED-9D2C-47FB-A0E3-D54FE23A7DD3}" type="datetime1">
              <a:rPr lang="fr-FR"/>
              <a:pPr lvl="0"/>
              <a:t>21/12/2024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228A702-F6AB-9A90-472E-71CD8BB0A80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69D7CFC-7EC6-62CB-3D44-C8B578E1825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CDE2312-E472-4432-BCC7-683DB82559F4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2318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F3571D-F132-B9FE-9EE4-2F717C6852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F3660CB-9C82-93C9-A44A-2A47F42B206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0B4A93B-1B18-AB04-4566-A0830E159C1A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57EC37B-6A10-9AA3-ABDD-89F037A6571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80CEBE1-8522-4A31-AF14-29C8F54BF054}" type="datetime1">
              <a:rPr lang="fr-FR"/>
              <a:pPr lvl="0"/>
              <a:t>21/12/2024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C657C3D-C224-1659-5FD8-57930BE31D6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D291008-E922-D2E7-635B-D0B14BC5FF1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B4325A6-A2A2-4A74-9283-E62BBCD79F7C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3040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B46729-8404-BC90-61A6-525A7FF356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4BC39F5-7175-8699-C3C1-8B939FDAA76E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F7829BB-6109-0F06-B502-3543CA67001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D4DE6F6-56CB-9AB6-5E44-2866F63F141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0ADA8C5-3AD2-4AE9-A643-9ABA547ED147}" type="datetime1">
              <a:rPr lang="fr-FR"/>
              <a:pPr lvl="0"/>
              <a:t>21/12/2024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A3A646F-154D-7DC7-9E7E-D3CAE639ED0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A8BB287-61B0-019B-CD01-EF5D1AB00A5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147AF89-55D7-4BD2-8E62-5D767B42330C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0274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E6989E-1AF2-4A70-00B9-F3EE0EEE8DB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11DE710-547B-051C-B9A8-1C87275136D1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A2C3096-1063-7086-2120-5D42CD38CFA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BF49126-6247-4F05-AD6B-17F0DF8F0D33}" type="datetime1">
              <a:rPr lang="fr-FR"/>
              <a:pPr lvl="0"/>
              <a:t>21/12/2024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DDBE88-4982-764F-88FA-08CD89BDC9D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15E4FBC-CB46-0C9A-84E4-778C4F9630E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A5F7BB7-5355-4D2F-A0FE-7D53098A8207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6257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BC4EEAD-BA2D-116C-0E96-CD25C96E00D5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9F1924D-EC4D-8DB9-B7FD-FE091E0BAC7F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9D1AA25-1A72-E89F-1E19-EDEFF3E0B32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9795A87-DBED-4D12-B7EC-51CBE37BE68C}" type="datetime1">
              <a:rPr lang="fr-FR"/>
              <a:pPr lvl="0"/>
              <a:t>21/12/2024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DB68903-27A4-CE61-D613-06CC2FB17E4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5390996-FD57-2C9A-278A-3A8E190E718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D35BDC4-0B52-495F-8C1C-A2DA97CB88D8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6794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Presentation title</a:t>
            </a:r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F7A5408-6D19-4CEA-A20F-5796F1CE13EC}" type="slidenum">
              <a:rPr lang="en-ID" smtClean="0"/>
              <a:t>‹N°›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048442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Presentation title</a:t>
            </a:r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F7A5408-6D19-4CEA-A20F-5796F1CE13EC}" type="slidenum">
              <a:rPr lang="en-ID" smtClean="0"/>
              <a:t>‹N°›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45458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Presentation title</a:t>
            </a:r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F7A5408-6D19-4CEA-A20F-5796F1CE13EC}" type="slidenum">
              <a:rPr lang="en-ID" smtClean="0"/>
              <a:t>‹N°›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6369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12/21/2024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Presentation title</a:t>
            </a:r>
            <a:endParaRPr lang="en-ID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F7A5408-6D19-4CEA-A20F-5796F1CE13EC}" type="slidenum">
              <a:rPr lang="en-ID" smtClean="0"/>
              <a:t>‹N°›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795317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FA2FCDBE-6443-4DD9-87EA-A5D8B03EBFD7}" type="datetime1">
              <a:rPr lang="fr-FR" smtClean="0"/>
              <a:pPr lvl="0"/>
              <a:t>21/12/2024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ACF2E94-23C4-4F0A-82E9-98E3EF5A0C01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1932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Presentation title</a:t>
            </a:r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F7A5408-6D19-4CEA-A20F-5796F1CE13EC}" type="slidenum">
              <a:rPr lang="en-ID" smtClean="0"/>
              <a:t>‹N°›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643138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Presentation title</a:t>
            </a:r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F7A5408-6D19-4CEA-A20F-5796F1CE13EC}" type="slidenum">
              <a:rPr lang="en-ID" smtClean="0"/>
              <a:t>‹N°›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773376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12/21/2024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pPr lvl="0"/>
            <a:r>
              <a:rPr lang="en-US"/>
              <a:t>Presentation title</a:t>
            </a:r>
            <a:endParaRPr lang="en-ID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F7A5408-6D19-4CEA-A20F-5796F1CE13EC}" type="slidenum">
              <a:rPr lang="en-ID" smtClean="0"/>
              <a:t>‹N°›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436364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B61BEF0D-F0BB-DE4B-95CE-6DB70DBA9567}" type="datetimeFigureOut">
              <a:rPr lang="en-US" smtClean="0"/>
              <a:pPr/>
              <a:t>12/21/2024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pPr lvl="0"/>
            <a:r>
              <a:rPr lang="en-US"/>
              <a:t>Presentation title</a:t>
            </a:r>
            <a:endParaRPr lang="en-ID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F7A5408-6D19-4CEA-A20F-5796F1CE13EC}" type="slidenum">
              <a:rPr lang="en-ID" smtClean="0"/>
              <a:t>‹N°›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698577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Presentation title</a:t>
            </a:r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F7A5408-6D19-4CEA-A20F-5796F1CE13EC}" type="slidenum">
              <a:rPr lang="en-ID" smtClean="0"/>
              <a:t>‹N°›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544476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Presentation title</a:t>
            </a:r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F7A5408-6D19-4CEA-A20F-5796F1CE13EC}" type="slidenum">
              <a:rPr lang="en-ID" smtClean="0"/>
              <a:t>‹N°›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189874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">
    <p:bg>
      <p:bgPr>
        <a:blipFill>
          <a:blip r:embed="rId2"/>
          <a:tile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94C17BC8-4D12-D4EE-8DC4-A5391B9DE112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5748997" y="476246"/>
            <a:ext cx="5157033" cy="5905496"/>
          </a:xfrm>
        </p:spPr>
        <p:txBody>
          <a:bodyPr anchor="ctr" anchorCtr="1"/>
          <a:lstStyle>
            <a:lvl1pPr algn="ctr">
              <a:defRPr lang="en-ID" sz="1333"/>
            </a:lvl1pPr>
          </a:lstStyle>
          <a:p>
            <a:pPr lvl="0"/>
            <a:endParaRPr lang="en-ID"/>
          </a:p>
        </p:txBody>
      </p: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85DD03BD-7D8E-B830-75C5-5217C2600FD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79429" y="5371551"/>
            <a:ext cx="4943502" cy="1010201"/>
          </a:xfrm>
        </p:spPr>
        <p:txBody>
          <a:bodyPr>
            <a:noAutofit/>
          </a:bodyPr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4076788-887B-FB8E-5219-77EB28E14C7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Presentation title</a:t>
            </a:r>
            <a:endParaRPr lang="en-ID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18D3FE0-ED76-8288-0A42-A2AAF25A107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A72FF89-2ACC-4FFB-B763-F0D80C6BFB97}" type="slidenum">
              <a:t>‹N°›</a:t>
            </a:fld>
            <a:endParaRPr lang="en-ID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3805BA7-9C51-62A0-A151-84865531F9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0005" y="1041401"/>
            <a:ext cx="5268992" cy="2387598"/>
          </a:xfrm>
        </p:spPr>
        <p:txBody>
          <a:bodyPr>
            <a:noAutofit/>
          </a:bodyPr>
          <a:lstStyle>
            <a:lvl1pPr>
              <a:defRPr lang="en-GB"/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4359600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lumn">
    <p:bg>
      <p:bgPr>
        <a:blipFill>
          <a:blip r:embed="rId2"/>
          <a:tile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C0EAA6-FCE2-6F6F-4CB2-8A6369036A8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Presentation title</a:t>
            </a:r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D7414A-3A3B-9D16-C2B7-1EFEE432DBA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160AEFC-0C71-4D1D-9467-32497B2C64E7}" type="slidenum">
              <a:t>‹N°›</a:t>
            </a:fld>
            <a:endParaRPr lang="en-ID"/>
          </a:p>
        </p:txBody>
      </p:sp>
      <p:sp>
        <p:nvSpPr>
          <p:cNvPr id="7" name="Picture Placeholder 11">
            <a:extLst>
              <a:ext uri="{FF2B5EF4-FFF2-40B4-BE49-F238E27FC236}">
                <a16:creationId xmlns:a16="http://schemas.microsoft.com/office/drawing/2014/main" id="{45C121B2-8034-82BF-2998-336FD61EEE5D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265" y="3429000"/>
            <a:ext cx="5157033" cy="2952753"/>
          </a:xfrm>
        </p:spPr>
        <p:txBody>
          <a:bodyPr anchor="ctr" anchorCtr="1"/>
          <a:lstStyle>
            <a:lvl1pPr algn="ctr">
              <a:defRPr lang="en-ID" sz="1333"/>
            </a:lvl1pPr>
          </a:lstStyle>
          <a:p>
            <a:pPr lvl="0"/>
            <a:endParaRPr lang="en-ID"/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2C1C9352-729B-DEAC-A66D-A3F66A9D1F43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5635931" y="476246"/>
            <a:ext cx="5157033" cy="2952753"/>
          </a:xfrm>
        </p:spPr>
        <p:txBody>
          <a:bodyPr anchor="ctr" anchorCtr="1"/>
          <a:lstStyle>
            <a:lvl1pPr algn="ctr">
              <a:defRPr lang="en-ID" sz="1333"/>
            </a:lvl1pPr>
          </a:lstStyle>
          <a:p>
            <a:pPr lvl="0"/>
            <a:endParaRPr lang="en-ID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F034D2E4-1986-E69A-7B2A-064BBFDDFBA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102348" y="3975655"/>
            <a:ext cx="4293702" cy="333253"/>
          </a:xfrm>
        </p:spPr>
        <p:txBody>
          <a:bodyPr tIns="0" bIns="0">
            <a:noAutofit/>
          </a:bodyPr>
          <a:lstStyle>
            <a:lvl1pPr>
              <a:defRPr sz="1300"/>
            </a:lvl1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01F7B16F-92CA-E1C0-5695-CE63A5C5D83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102348" y="4373218"/>
            <a:ext cx="4293702" cy="1954694"/>
          </a:xfrm>
        </p:spPr>
        <p:txBody>
          <a:bodyPr tIns="0" bIns="0">
            <a:noAutofit/>
          </a:bodyPr>
          <a:lstStyle>
            <a:lvl1pPr>
              <a:spcBef>
                <a:spcPts val="600"/>
              </a:spcBef>
              <a:defRPr lang="en-ID" sz="1100" b="0">
                <a:solidFill>
                  <a:srgbClr val="262626"/>
                </a:solidFill>
              </a:defRPr>
            </a:lvl1pPr>
          </a:lstStyle>
          <a:p>
            <a:pPr lvl="0"/>
            <a:r>
              <a:rPr lang="en-ID"/>
              <a:t>Click to edit Master text styles</a:t>
            </a:r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C03BD84-8C37-2ED7-B734-D9C664E065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9429" y="493574"/>
            <a:ext cx="4629287" cy="2084575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94194854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0">
            <a:extLst>
              <a:ext uri="{FF2B5EF4-FFF2-40B4-BE49-F238E27FC236}">
                <a16:creationId xmlns:a16="http://schemas.microsoft.com/office/drawing/2014/main" id="{D7BAB104-07DA-BF75-D982-3E14AA70220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1066665" cy="400004"/>
          </a:xfrm>
        </p:spPr>
        <p:txBody>
          <a:bodyPr anchorCtr="0"/>
          <a:lstStyle>
            <a:lvl1pPr algn="l">
              <a:defRPr lang="en-US"/>
            </a:lvl1pPr>
          </a:lstStyle>
          <a:p>
            <a:pPr lvl="0"/>
            <a:fld id="{FF160439-7482-4F23-B629-B733A069B187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839105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Columns">
    <p:bg>
      <p:bgPr>
        <a:blipFill>
          <a:blip r:embed="rId2"/>
          <a:tile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B24EB3-603C-6A42-F10A-50E77F66D05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Presentation title</a:t>
            </a:r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D1093-C95C-8210-472D-6A379EBDC79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38EFB87-3FE9-477F-9DBA-1EEAD11014CF}" type="slidenum">
              <a:t>‹N°›</a:t>
            </a:fld>
            <a:endParaRPr lang="en-ID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4001004-2E91-617D-235C-41293360D0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8621" y="476246"/>
            <a:ext cx="5997577" cy="2084575"/>
          </a:xfrm>
        </p:spPr>
        <p:txBody>
          <a:bodyPr anchor="b">
            <a:noAutofit/>
          </a:bodyPr>
          <a:lstStyle>
            <a:lvl1pPr>
              <a:defRPr>
                <a:solidFill>
                  <a:srgbClr val="0A1825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2EEA69C5-29B3-5B65-A698-BB2B835E3B86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7035795" y="476246"/>
            <a:ext cx="3695703" cy="5901747"/>
          </a:xfrm>
        </p:spPr>
        <p:txBody>
          <a:bodyPr anchor="ctr" anchorCtr="1"/>
          <a:lstStyle>
            <a:lvl1pPr algn="ctr">
              <a:defRPr lang="en-ID" sz="1333"/>
            </a:lvl1pPr>
          </a:lstStyle>
          <a:p>
            <a:pPr lvl="0"/>
            <a:endParaRPr lang="en-ID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712C963A-E314-D0B1-1624-76ADC40E45C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48621" y="3022924"/>
            <a:ext cx="2818848" cy="383956"/>
          </a:xfrm>
        </p:spPr>
        <p:txBody>
          <a:bodyPr lIns="90004" tIns="0" rIns="90004" bIns="0">
            <a:noAutofit/>
          </a:bodyPr>
          <a:lstStyle>
            <a:lvl1pPr>
              <a:defRPr lang="en-ID" sz="1300"/>
            </a:lvl1pPr>
          </a:lstStyle>
          <a:p>
            <a:pPr lvl="0"/>
            <a:endParaRPr lang="en-ID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34CD2164-9C8D-270C-3504-38922849438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48621" y="3483150"/>
            <a:ext cx="2818848" cy="2048329"/>
          </a:xfrm>
        </p:spPr>
        <p:txBody>
          <a:bodyPr lIns="90004" tIns="0" rIns="90004" bIns="0">
            <a:noAutofit/>
          </a:bodyPr>
          <a:lstStyle>
            <a:lvl1pPr>
              <a:defRPr sz="1100" b="0"/>
            </a:lvl1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641B22C8-10DD-917E-C070-BF306F0A2A7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727341" y="3022924"/>
            <a:ext cx="2818848" cy="383956"/>
          </a:xfrm>
        </p:spPr>
        <p:txBody>
          <a:bodyPr lIns="90004" tIns="0" rIns="90004" bIns="0">
            <a:noAutofit/>
          </a:bodyPr>
          <a:lstStyle>
            <a:lvl1pPr>
              <a:defRPr lang="en-ID" sz="1300"/>
            </a:lvl1pPr>
          </a:lstStyle>
          <a:p>
            <a:pPr lvl="0"/>
            <a:endParaRPr lang="en-ID"/>
          </a:p>
        </p:txBody>
      </p:sp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C013B50E-DC5D-FA35-2B9B-EB18C9C2CF1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727341" y="3483150"/>
            <a:ext cx="2818848" cy="2048329"/>
          </a:xfrm>
        </p:spPr>
        <p:txBody>
          <a:bodyPr lIns="90004" tIns="0" rIns="90004" bIns="0">
            <a:noAutofit/>
          </a:bodyPr>
          <a:lstStyle>
            <a:lvl1pPr>
              <a:defRPr sz="1100" b="0"/>
            </a:lvl1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87743755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Columns">
    <p:bg>
      <p:bgPr>
        <a:blipFill>
          <a:blip r:embed="rId2"/>
          <a:tile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A7CB8DE0-7B83-321A-1DBF-A2358D63F1A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Presentation title</a:t>
            </a:r>
            <a:endParaRPr lang="en-ID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1793B511-92FE-C272-6483-3262A46CFDD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780DFB8-A866-451F-A047-DA8801207716}" type="slidenum">
              <a:t>‹N°›</a:t>
            </a:fld>
            <a:endParaRPr lang="en-ID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64793EF1-B372-B564-C907-E07722C89060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881734" y="2235195"/>
            <a:ext cx="2428527" cy="4074584"/>
          </a:xfrm>
        </p:spPr>
        <p:txBody>
          <a:bodyPr anchor="ctr" anchorCtr="1"/>
          <a:lstStyle>
            <a:lvl1pPr algn="ctr">
              <a:defRPr lang="en-ID" sz="800"/>
            </a:lvl1pPr>
          </a:lstStyle>
          <a:p>
            <a:pPr lvl="0"/>
            <a:endParaRPr lang="en-ID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0B07470F-A31F-C2DF-A9C9-0C571AAE964E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7636328" y="3604592"/>
            <a:ext cx="3186272" cy="3253407"/>
          </a:xfrm>
        </p:spPr>
        <p:txBody>
          <a:bodyPr anchor="ctr" anchorCtr="1"/>
          <a:lstStyle>
            <a:lvl1pPr algn="ctr">
              <a:defRPr lang="en-ID" sz="800"/>
            </a:lvl1pPr>
          </a:lstStyle>
          <a:p>
            <a:pPr lvl="0"/>
            <a:endParaRPr lang="en-ID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543D4097-8A3F-98BE-892C-8909F413073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79429" y="2651549"/>
            <a:ext cx="4076248" cy="1405825"/>
          </a:xfrm>
        </p:spPr>
        <p:txBody>
          <a:bodyPr tIns="0" bIns="0">
            <a:noAutofit/>
          </a:bodyPr>
          <a:lstStyle>
            <a:lvl1pPr>
              <a:defRPr sz="11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FC0D00F-CB9B-D65D-1302-7D5A4736CF6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79419" y="2235195"/>
            <a:ext cx="4076248" cy="359999"/>
          </a:xfrm>
        </p:spPr>
        <p:txBody>
          <a:bodyPr tIns="0" bIns="0">
            <a:noAutofit/>
          </a:bodyPr>
          <a:lstStyle>
            <a:lvl1pPr>
              <a:defRPr sz="13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9F06742E-5452-6456-46BD-7CA581CFA4F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79429" y="4827748"/>
            <a:ext cx="4076248" cy="1409145"/>
          </a:xfrm>
        </p:spPr>
        <p:txBody>
          <a:bodyPr tIns="0" bIns="0">
            <a:noAutofit/>
          </a:bodyPr>
          <a:lstStyle>
            <a:lvl1pPr>
              <a:defRPr sz="11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E8936AA-CD7E-CABB-F21F-A2AE5CB0040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79419" y="4401464"/>
            <a:ext cx="4076248" cy="359999"/>
          </a:xfrm>
        </p:spPr>
        <p:txBody>
          <a:bodyPr tIns="0" bIns="0">
            <a:noAutofit/>
          </a:bodyPr>
          <a:lstStyle>
            <a:lvl1pPr>
              <a:defRPr sz="13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CAF7EC15-13AF-A6B8-6456-B8CC782F714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636328" y="907770"/>
            <a:ext cx="3186272" cy="2290416"/>
          </a:xfrm>
        </p:spPr>
        <p:txBody>
          <a:bodyPr tIns="0" bIns="0">
            <a:noAutofit/>
          </a:bodyPr>
          <a:lstStyle>
            <a:lvl1pPr>
              <a:defRPr sz="11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889B31CC-CA0C-E50A-2163-E719CA989EA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636328" y="365129"/>
            <a:ext cx="3186272" cy="358975"/>
          </a:xfrm>
        </p:spPr>
        <p:txBody>
          <a:bodyPr tIns="0" bIns="0">
            <a:noAutofit/>
          </a:bodyPr>
          <a:lstStyle>
            <a:lvl1pPr>
              <a:defRPr sz="13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69C88C0-95EF-E56A-494D-5B4DEA136B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9429" y="365129"/>
            <a:ext cx="6830842" cy="1622703"/>
          </a:xfrm>
        </p:spPr>
        <p:txBody>
          <a:bodyPr anchor="b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89582005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lumn(2)">
    <p:bg>
      <p:bgPr>
        <a:blipFill>
          <a:blip r:embed="rId2"/>
          <a:tile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52D241B-FB8E-BEC5-5304-D60EB60386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9689" y="1078278"/>
            <a:ext cx="4334932" cy="2084575"/>
          </a:xfrm>
        </p:spPr>
        <p:txBody>
          <a:bodyPr anchor="b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CECF416A-3414-4D6B-F6FA-0917838FA4E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Presentation title</a:t>
            </a:r>
            <a:endParaRPr lang="en-ID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B546C277-DEE2-C449-0C6A-53528EBDEDB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9479F08-CC93-4813-90F5-BA8EE70AF7A7}" type="slidenum">
              <a:t>‹N°›</a:t>
            </a:fld>
            <a:endParaRPr lang="en-ID"/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7FEA076F-0F37-F1F5-840E-DB38C97CD543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79429" y="1078278"/>
            <a:ext cx="5156502" cy="4701451"/>
          </a:xfrm>
        </p:spPr>
        <p:txBody>
          <a:bodyPr anchor="ctr" anchorCtr="1"/>
          <a:lstStyle>
            <a:lvl1pPr algn="ctr">
              <a:defRPr lang="en-ID" sz="1333"/>
            </a:lvl1pPr>
          </a:lstStyle>
          <a:p>
            <a:pPr lvl="0"/>
            <a:endParaRPr lang="en-ID"/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6D69A6E1-E614-4DDE-56B7-0CDCC7BED7E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439689" y="3365659"/>
            <a:ext cx="4334932" cy="329494"/>
          </a:xfrm>
        </p:spPr>
        <p:txBody>
          <a:bodyPr tIns="0" bIns="0">
            <a:noAutofit/>
          </a:bodyPr>
          <a:lstStyle>
            <a:lvl1pPr>
              <a:defRPr sz="1300"/>
            </a:lvl1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46ABC6CD-68D3-A566-144E-31C97935397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439689" y="3756995"/>
            <a:ext cx="4334932" cy="2022735"/>
          </a:xfrm>
        </p:spPr>
        <p:txBody>
          <a:bodyPr tIns="0" bIns="0">
            <a:noAutofit/>
          </a:bodyPr>
          <a:lstStyle>
            <a:lvl1pPr>
              <a:defRPr sz="1100" b="0"/>
            </a:lvl1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3749747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ED367F4-3172-3B4A-E989-EADA5DD89D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D1FB0E4-FF20-D66D-CBC4-AF6F70D18E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8172640-24B6-8806-3E7A-93182B3DC15D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FA2FCDBE-6443-4DD9-87EA-A5D8B03EBFD7}" type="datetime1">
              <a:rPr lang="fr-FR"/>
              <a:pPr lvl="0"/>
              <a:t>21/12/2024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3B6B37F-ABF2-630A-79B5-1B1C3BCC3D3C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8D8D9D1-947A-8F62-28C6-6371687CC70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7ACF2E94-23C4-4F0A-82E9-98E3EF5A0C01}" type="slidenum"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fr-FR" sz="4400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fr-FR" sz="2800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fr-FR" sz="24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fr-FR" sz="20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fr-FR" sz="180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fr-FR" sz="180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lvl="0"/>
            <a:fld id="{FA2FCDBE-6443-4DD9-87EA-A5D8B03EBFD7}" type="datetime1">
              <a:rPr lang="fr-FR" smtClean="0"/>
              <a:pPr lvl="0"/>
              <a:t>21/12/2024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pPr lvl="0"/>
            <a:fld id="{7ACF2E94-23C4-4F0A-82E9-98E3EF5A0C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1616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space réservé pour une image  6">
            <a:extLst>
              <a:ext uri="{FF2B5EF4-FFF2-40B4-BE49-F238E27FC236}">
                <a16:creationId xmlns:a16="http://schemas.microsoft.com/office/drawing/2014/main" id="{FB6846E3-5AB4-A351-54FA-257190DF14A6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2"/>
          <a:srcRect l="20887" r="20887"/>
          <a:stretch>
            <a:fillRect/>
          </a:stretch>
        </p:blipFill>
        <p:spPr>
          <a:xfrm>
            <a:off x="5881255" y="476246"/>
            <a:ext cx="5024775" cy="5905496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499963-942E-C5D9-2710-3EBEB378C3B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79429" y="5371551"/>
            <a:ext cx="4943502" cy="1010201"/>
          </a:xfrm>
        </p:spPr>
        <p:txBody>
          <a:bodyPr>
            <a:noAutofit/>
          </a:bodyPr>
          <a:lstStyle/>
          <a:p>
            <a:pPr lvl="0"/>
            <a:r>
              <a:rPr lang="en-US" sz="1600" b="0"/>
              <a:t>NAME: Cyril SAURET DATE: DÉC. 2024</a:t>
            </a:r>
            <a:endParaRPr lang="en-GB" sz="1600" b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947DD2B-6A6C-CA67-CF59-359D2041C7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0005" y="519946"/>
            <a:ext cx="5268992" cy="1151964"/>
          </a:xfrm>
        </p:spPr>
        <p:txBody>
          <a:bodyPr/>
          <a:lstStyle/>
          <a:p>
            <a:pPr lvl="0"/>
            <a:r>
              <a:rPr lang="en-GB"/>
              <a:t>Forest Fire Simulation App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09A3E0-E675-7BAD-F46A-C4BE50B2FECE}"/>
              </a:ext>
            </a:extLst>
          </p:cNvPr>
          <p:cNvSpPr txBox="1"/>
          <p:nvPr/>
        </p:nvSpPr>
        <p:spPr>
          <a:xfrm>
            <a:off x="11232096" y="478121"/>
            <a:ext cx="959909" cy="5627949"/>
          </a:xfrm>
          <a:prstGeom prst="rect">
            <a:avLst/>
          </a:prstGeom>
          <a:noFill/>
          <a:ln cap="flat">
            <a:noFill/>
          </a:ln>
        </p:spPr>
        <p:txBody>
          <a:bodyPr vert="vert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FF4D00"/>
                </a:solidFill>
                <a:uFillTx/>
                <a:latin typeface="Montserrat SemiBold" pitchFamily="2"/>
              </a:rPr>
              <a:t>Forest Fire Simulation App</a:t>
            </a:r>
            <a:endParaRPr lang="en-ID" sz="1200" b="0" i="0" u="none" strike="noStrike" kern="1200" cap="none" spc="0" baseline="0">
              <a:solidFill>
                <a:srgbClr val="FF4D00"/>
              </a:solidFill>
              <a:uFillTx/>
              <a:latin typeface="Montserrat SemiBold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D17C7C-31CA-67F3-5947-1FFDDFDC3D75}"/>
              </a:ext>
            </a:extLst>
          </p:cNvPr>
          <p:cNvSpPr txBox="1"/>
          <p:nvPr/>
        </p:nvSpPr>
        <p:spPr>
          <a:xfrm>
            <a:off x="11232096" y="6159087"/>
            <a:ext cx="959909" cy="2737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17BD5CD-7B6A-493C-A4A7-A190E5B0A540}" type="slidenum">
              <a:rPr lang="en-ID" sz="1200" b="0" i="0" u="none" strike="noStrike" kern="1200" cap="none" spc="0" baseline="0">
                <a:solidFill>
                  <a:srgbClr val="FF4D00"/>
                </a:solidFill>
                <a:uFillTx/>
                <a:latin typeface="Montserrat SemiBold" pitchFamily="2"/>
              </a:rPr>
              <a:t>1</a:t>
            </a:fld>
            <a:endParaRPr lang="en-ID" sz="1200" b="0" i="0" u="none" strike="noStrike" kern="1200" cap="none" spc="0" baseline="0">
              <a:solidFill>
                <a:srgbClr val="FF4D00"/>
              </a:solidFill>
              <a:uFillTx/>
              <a:latin typeface="Montserrat SemiBold" pitchFamily="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D20426-E739-F026-ACA3-E819BBEDDDBE}"/>
              </a:ext>
            </a:extLst>
          </p:cNvPr>
          <p:cNvSpPr/>
          <p:nvPr/>
        </p:nvSpPr>
        <p:spPr>
          <a:xfrm>
            <a:off x="7040908" y="6395570"/>
            <a:ext cx="4263586" cy="444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DF84E22D-F4A4-C192-B89B-1873D29769C1}"/>
              </a:ext>
            </a:extLst>
          </p:cNvPr>
          <p:cNvSpPr txBox="1"/>
          <p:nvPr/>
        </p:nvSpPr>
        <p:spPr>
          <a:xfrm>
            <a:off x="11232096" y="478121"/>
            <a:ext cx="959909" cy="5627949"/>
          </a:xfrm>
          <a:prstGeom prst="rect">
            <a:avLst/>
          </a:prstGeom>
          <a:noFill/>
          <a:ln cap="flat">
            <a:noFill/>
          </a:ln>
        </p:spPr>
        <p:txBody>
          <a:bodyPr vert="vert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FF4D00"/>
                </a:solidFill>
                <a:uFillTx/>
                <a:latin typeface="Montserrat SemiBold" pitchFamily="2"/>
              </a:rPr>
              <a:t>Forest Fire Simulation App</a:t>
            </a:r>
            <a:endParaRPr lang="en-ID" sz="1200" b="0" i="0" u="none" strike="noStrike" kern="1200" cap="none" spc="0" baseline="0">
              <a:solidFill>
                <a:srgbClr val="FF4D00"/>
              </a:solidFill>
              <a:uFillTx/>
              <a:latin typeface="Montserrat SemiBold" pitchFamily="2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C9191BD-5EE7-76AA-A444-43875BAD6AE3}"/>
              </a:ext>
            </a:extLst>
          </p:cNvPr>
          <p:cNvSpPr txBox="1"/>
          <p:nvPr/>
        </p:nvSpPr>
        <p:spPr>
          <a:xfrm>
            <a:off x="11232096" y="6159087"/>
            <a:ext cx="959909" cy="2737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5CC6A9C-F5D2-428B-A6AB-C0B6A088D617}" type="slidenum">
              <a:rPr lang="en-ID" sz="1200" b="0" i="0" u="none" strike="noStrike" kern="1200" cap="none" spc="0" baseline="0">
                <a:solidFill>
                  <a:srgbClr val="FF4D00"/>
                </a:solidFill>
                <a:uFillTx/>
                <a:latin typeface="Montserrat SemiBold" pitchFamily="2"/>
              </a:rPr>
              <a:t>2</a:t>
            </a:fld>
            <a:endParaRPr lang="en-ID" sz="1200" b="0" i="0" u="none" strike="noStrike" kern="1200" cap="none" spc="0" baseline="0">
              <a:solidFill>
                <a:srgbClr val="FF4D00"/>
              </a:solidFill>
              <a:uFillTx/>
              <a:latin typeface="Montserrat SemiBold" pitchFamily="2"/>
            </a:endParaRPr>
          </a:p>
        </p:txBody>
      </p:sp>
      <p:pic>
        <p:nvPicPr>
          <p:cNvPr id="4" name="Espace réservé pour une image  8">
            <a:extLst>
              <a:ext uri="{FF2B5EF4-FFF2-40B4-BE49-F238E27FC236}">
                <a16:creationId xmlns:a16="http://schemas.microsoft.com/office/drawing/2014/main" id="{AAF09B86-8B96-3471-09E6-BAEC116803CC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2"/>
          <a:srcRect t="7064" b="7064"/>
          <a:stretch>
            <a:fillRect/>
          </a:stretch>
        </p:blipFill>
        <p:spPr>
          <a:xfrm>
            <a:off x="265" y="3429000"/>
            <a:ext cx="5157033" cy="2952753"/>
          </a:xfrm>
        </p:spPr>
      </p:pic>
      <p:pic>
        <p:nvPicPr>
          <p:cNvPr id="5" name="Espace réservé pour une image  9">
            <a:extLst>
              <a:ext uri="{FF2B5EF4-FFF2-40B4-BE49-F238E27FC236}">
                <a16:creationId xmlns:a16="http://schemas.microsoft.com/office/drawing/2014/main" id="{5CA70577-8D87-5F57-2E83-64B38A7873BD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/>
          <a:srcRect t="11834" b="11834"/>
          <a:stretch>
            <a:fillRect/>
          </a:stretch>
        </p:blipFill>
        <p:spPr>
          <a:xfrm>
            <a:off x="5635931" y="476246"/>
            <a:ext cx="5157033" cy="2952753"/>
          </a:xfrm>
        </p:spPr>
      </p:pic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D832CEAF-0216-B976-4998-0371A47C791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102348" y="3975655"/>
            <a:ext cx="4293702" cy="333253"/>
          </a:xfrm>
        </p:spPr>
        <p:txBody>
          <a:bodyPr tIns="0" bIns="0">
            <a:noAutofit/>
          </a:bodyPr>
          <a:lstStyle/>
          <a:p>
            <a:pPr lvl="0"/>
            <a:r>
              <a:rPr lang="fr-FR" sz="1400" b="1" dirty="0"/>
              <a:t>OVERVIEW</a:t>
            </a:r>
            <a:r>
              <a:rPr lang="fr-FR" sz="1300" dirty="0"/>
              <a:t> </a:t>
            </a:r>
            <a:r>
              <a:rPr lang="fr-FR" sz="1400" b="1" dirty="0"/>
              <a:t>OF THE ISSUE</a:t>
            </a:r>
            <a:endParaRPr lang="fr-FR" sz="1300" b="1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4A057045-5355-7755-C943-CD0CB60D500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102348" y="4373218"/>
            <a:ext cx="4880957" cy="2059667"/>
          </a:xfrm>
        </p:spPr>
        <p:txBody>
          <a:bodyPr tIns="0" bIns="0">
            <a:noAutofit/>
          </a:bodyPr>
          <a:lstStyle/>
          <a:p>
            <a:pPr lvl="0"/>
            <a:r>
              <a:rPr lang="en-US" b="1" dirty="0"/>
              <a:t>This application simulates a basic forest fires using a backend built with Spring Boot and a frontend built with React and Typescript. The backend handles the simulation logic and provides REST endpoints, while the frontend displays the simulation grid and allows user interaction.</a:t>
            </a:r>
            <a:endParaRPr lang="fr-FR" b="1" dirty="0"/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D57BE809-DA98-8C91-99E0-454A61C7C8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9429" y="510982"/>
            <a:ext cx="4629287" cy="753042"/>
          </a:xfrm>
        </p:spPr>
        <p:txBody>
          <a:bodyPr>
            <a:normAutofit fontScale="90000"/>
          </a:bodyPr>
          <a:lstStyle/>
          <a:p>
            <a:pPr lvl="0"/>
            <a:r>
              <a:rPr lang="fr-FR" dirty="0" err="1"/>
              <a:t>Context</a:t>
            </a:r>
            <a:r>
              <a:rPr lang="fr-FR" dirty="0"/>
              <a:t> &amp; Objectives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E53B0A-7232-5089-F0F3-68F11929206C}"/>
              </a:ext>
            </a:extLst>
          </p:cNvPr>
          <p:cNvSpPr/>
          <p:nvPr/>
        </p:nvSpPr>
        <p:spPr>
          <a:xfrm>
            <a:off x="7040908" y="6395570"/>
            <a:ext cx="4263586" cy="444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0">
            <a:extLst>
              <a:ext uri="{FF2B5EF4-FFF2-40B4-BE49-F238E27FC236}">
                <a16:creationId xmlns:a16="http://schemas.microsoft.com/office/drawing/2014/main" id="{02C774E8-F60A-7803-75E3-99CBF3649195}"/>
              </a:ext>
            </a:extLst>
          </p:cNvPr>
          <p:cNvGraphicFramePr>
            <a:graphicFrameLocks noGrp="1"/>
          </p:cNvGraphicFramePr>
          <p:nvPr/>
        </p:nvGraphicFramePr>
        <p:xfrm>
          <a:off x="546097" y="3042409"/>
          <a:ext cx="10363196" cy="33711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851772">
                  <a:extLst>
                    <a:ext uri="{9D8B030D-6E8A-4147-A177-3AD203B41FA5}">
                      <a16:colId xmlns:a16="http://schemas.microsoft.com/office/drawing/2014/main" val="3960335805"/>
                    </a:ext>
                  </a:extLst>
                </a:gridCol>
                <a:gridCol w="2259720">
                  <a:extLst>
                    <a:ext uri="{9D8B030D-6E8A-4147-A177-3AD203B41FA5}">
                      <a16:colId xmlns:a16="http://schemas.microsoft.com/office/drawing/2014/main" val="618024362"/>
                    </a:ext>
                  </a:extLst>
                </a:gridCol>
                <a:gridCol w="7251704">
                  <a:extLst>
                    <a:ext uri="{9D8B030D-6E8A-4147-A177-3AD203B41FA5}">
                      <a16:colId xmlns:a16="http://schemas.microsoft.com/office/drawing/2014/main" val="2245480171"/>
                    </a:ext>
                  </a:extLst>
                </a:gridCol>
              </a:tblGrid>
              <a:tr h="35966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Open Sans" pitchFamily="34"/>
                          <a:ea typeface="Open Sans" pitchFamily="34"/>
                          <a:cs typeface="Open Sans" pitchFamily="34"/>
                        </a:rPr>
                        <a:t>ID</a:t>
                      </a:r>
                      <a:endParaRPr lang="en-US" sz="14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73152" marR="73152" marT="73152" marB="73152" anchor="ctr">
                    <a:lnL>
                      <a:noFill/>
                    </a:lnL>
                    <a:lnR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Open Sans" pitchFamily="34"/>
                          <a:ea typeface="Open Sans" pitchFamily="34"/>
                          <a:cs typeface="Open Sans" pitchFamily="34"/>
                        </a:rPr>
                        <a:t>REQUIREMENT</a:t>
                      </a:r>
                      <a:endParaRPr lang="en-US" sz="14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73152" marR="73152" marT="73152" marB="73152" anchor="ctr">
                    <a:lnL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Open Sans" pitchFamily="34"/>
                          <a:ea typeface="Open Sans" pitchFamily="34"/>
                          <a:cs typeface="Open Sans" pitchFamily="34"/>
                        </a:rPr>
                        <a:t>DESCRIPTION</a:t>
                      </a:r>
                      <a:endParaRPr lang="en-US" sz="14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73152" marR="73152" marT="73152" marB="73152" anchor="ctr">
                    <a:lnL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170782"/>
                  </a:ext>
                </a:extLst>
              </a:tr>
              <a:tr h="573027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Open Sans" pitchFamily="34"/>
                          <a:ea typeface="Open Sans" pitchFamily="34"/>
                          <a:cs typeface="Open Sans" pitchFamily="34"/>
                        </a:rPr>
                        <a:t>Rq01</a:t>
                      </a:r>
                      <a:endParaRPr lang="en-US" sz="14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73152" marR="73152" marT="73152" marB="73152" anchor="ctr">
                    <a:lnL>
                      <a:noFill/>
                    </a:lnL>
                    <a:lnR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Open Sans" pitchFamily="34"/>
                          <a:ea typeface="Open Sans" pitchFamily="34"/>
                          <a:cs typeface="Open Sans" pitchFamily="34"/>
                        </a:rPr>
                        <a:t>Grid Representation</a:t>
                      </a:r>
                      <a:endParaRPr lang="en-US" sz="14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73152" marR="73152" marT="73152" marB="73152" anchor="ctr">
                    <a:lnL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Open Sans" pitchFamily="34"/>
                          <a:ea typeface="Open Sans" pitchFamily="34"/>
                          <a:cs typeface="Open Sans" pitchFamily="34"/>
                        </a:rPr>
                        <a:t>The forest is represented by a grid with dimensions h x w.</a:t>
                      </a:r>
                      <a:endParaRPr lang="en-US" sz="14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73152" marR="73152" marT="73152" marB="73152" anchor="ctr">
                    <a:lnL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087312"/>
                  </a:ext>
                </a:extLst>
              </a:tr>
              <a:tr h="35966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Open Sans" pitchFamily="34"/>
                          <a:ea typeface="Open Sans" pitchFamily="34"/>
                          <a:cs typeface="Open Sans" pitchFamily="34"/>
                        </a:rPr>
                        <a:t>Rq02</a:t>
                      </a:r>
                      <a:endParaRPr lang="en-US" sz="14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73152" marR="73152" marT="73152" marB="73152" anchor="ctr">
                    <a:lnL>
                      <a:noFill/>
                    </a:lnL>
                    <a:lnR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Open Sans" pitchFamily="34"/>
                          <a:ea typeface="Open Sans" pitchFamily="34"/>
                          <a:cs typeface="Open Sans" pitchFamily="34"/>
                        </a:rPr>
                        <a:t>Discrete Time Steps</a:t>
                      </a:r>
                      <a:endParaRPr lang="en-US" sz="14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73152" marR="73152" marT="73152" marB="73152" anchor="ctr">
                    <a:lnL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Open Sans" pitchFamily="34"/>
                          <a:ea typeface="Open Sans" pitchFamily="34"/>
                          <a:cs typeface="Open Sans" pitchFamily="34"/>
                        </a:rPr>
                        <a:t>The simulation progresses step by step.</a:t>
                      </a:r>
                      <a:endParaRPr lang="en-US" sz="14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73152" marR="73152" marT="73152" marB="73152" anchor="ctr">
                    <a:lnL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379095"/>
                  </a:ext>
                </a:extLst>
              </a:tr>
              <a:tr h="35966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Open Sans" pitchFamily="34"/>
                          <a:ea typeface="Open Sans" pitchFamily="34"/>
                          <a:cs typeface="Open Sans" pitchFamily="34"/>
                        </a:rPr>
                        <a:t>Rq03</a:t>
                      </a:r>
                      <a:endParaRPr lang="en-US" sz="14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73152" marR="73152" marT="73152" marB="73152" anchor="ctr">
                    <a:lnL>
                      <a:noFill/>
                    </a:lnL>
                    <a:lnR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Open Sans" pitchFamily="34"/>
                          <a:ea typeface="Open Sans" pitchFamily="34"/>
                          <a:cs typeface="Open Sans" pitchFamily="34"/>
                        </a:rPr>
                        <a:t>Initial Fire Cells</a:t>
                      </a:r>
                      <a:endParaRPr lang="en-US" sz="14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73152" marR="73152" marT="73152" marB="73152" anchor="ctr">
                    <a:lnL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Open Sans" pitchFamily="34"/>
                          <a:ea typeface="Open Sans" pitchFamily="34"/>
                          <a:cs typeface="Open Sans" pitchFamily="34"/>
                        </a:rPr>
                        <a:t>One or more cells are on fire initially.</a:t>
                      </a:r>
                      <a:endParaRPr lang="en-US" sz="14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73152" marR="73152" marT="73152" marB="73152" anchor="ctr">
                    <a:lnL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302147"/>
                  </a:ext>
                </a:extLst>
              </a:tr>
              <a:tr h="573027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Open Sans" pitchFamily="34"/>
                          <a:ea typeface="Open Sans" pitchFamily="34"/>
                          <a:cs typeface="Open Sans" pitchFamily="34"/>
                        </a:rPr>
                        <a:t>Rq04</a:t>
                      </a:r>
                      <a:endParaRPr lang="en-US" sz="14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73152" marR="73152" marT="73152" marB="73152" anchor="ctr">
                    <a:lnL>
                      <a:noFill/>
                    </a:lnL>
                    <a:lnR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Open Sans" pitchFamily="34"/>
                          <a:ea typeface="Open Sans" pitchFamily="34"/>
                          <a:cs typeface="Open Sans" pitchFamily="34"/>
                        </a:rPr>
                        <a:t>Fire Outage</a:t>
                      </a:r>
                      <a:endParaRPr lang="en-US" sz="14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73152" marR="73152" marT="73152" marB="73152" anchor="ctr">
                    <a:lnL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Open Sans" pitchFamily="34"/>
                          <a:ea typeface="Open Sans" pitchFamily="34"/>
                          <a:cs typeface="Open Sans" pitchFamily="34"/>
                        </a:rPr>
                        <a:t>If a cell is on fire at step t, it goes out at t+1.</a:t>
                      </a:r>
                      <a:endParaRPr lang="en-US" sz="14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73152" marR="73152" marT="73152" marB="73152" anchor="ctr">
                    <a:lnL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0644365"/>
                  </a:ext>
                </a:extLst>
              </a:tr>
              <a:tr h="573027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Open Sans" pitchFamily="34"/>
                          <a:ea typeface="Open Sans" pitchFamily="34"/>
                          <a:cs typeface="Open Sans" pitchFamily="34"/>
                        </a:rPr>
                        <a:t>Rq05</a:t>
                      </a:r>
                      <a:endParaRPr lang="en-US" sz="14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73152" marR="73152" marT="73152" marB="73152" anchor="ctr">
                    <a:lnL>
                      <a:noFill/>
                    </a:lnL>
                    <a:lnR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Open Sans" pitchFamily="34"/>
                          <a:ea typeface="Open Sans" pitchFamily="34"/>
                          <a:cs typeface="Open Sans" pitchFamily="34"/>
                        </a:rPr>
                        <a:t>Fire Spread Probability</a:t>
                      </a:r>
                      <a:endParaRPr lang="en-US" sz="14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73152" marR="73152" marT="73152" marB="73152" anchor="ctr">
                    <a:lnL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Open Sans" pitchFamily="34"/>
                          <a:ea typeface="Open Sans" pitchFamily="34"/>
                          <a:cs typeface="Open Sans" pitchFamily="34"/>
                        </a:rPr>
                        <a:t>Probability p for fire spreading to adjacent cells.</a:t>
                      </a:r>
                      <a:endParaRPr lang="en-US" sz="14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73152" marR="73152" marT="73152" marB="73152" anchor="ctr">
                    <a:lnL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612102"/>
                  </a:ext>
                </a:extLst>
              </a:tr>
              <a:tr h="573027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Open Sans" pitchFamily="34"/>
                          <a:ea typeface="Open Sans" pitchFamily="34"/>
                          <a:cs typeface="Open Sans" pitchFamily="34"/>
                        </a:rPr>
                        <a:t>Rq06</a:t>
                      </a:r>
                      <a:endParaRPr lang="en-US" sz="14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73152" marR="73152" marT="73152" marB="73152" anchor="ctr">
                    <a:lnL>
                      <a:noFill/>
                    </a:lnL>
                    <a:lnR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Open Sans" pitchFamily="34"/>
                          <a:ea typeface="Open Sans" pitchFamily="34"/>
                          <a:cs typeface="Open Sans" pitchFamily="34"/>
                        </a:rPr>
                        <a:t>Simulation End</a:t>
                      </a:r>
                      <a:endParaRPr lang="en-US" sz="14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73152" marR="73152" marT="73152" marB="73152" anchor="ctr">
                    <a:lnL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Open Sans" pitchFamily="34"/>
                          <a:ea typeface="Open Sans" pitchFamily="34"/>
                          <a:cs typeface="Open Sans" pitchFamily="34"/>
                        </a:rPr>
                        <a:t>Stops when there are no more burning cells.</a:t>
                      </a:r>
                      <a:endParaRPr lang="en-US" sz="14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73152" marR="73152" marT="73152" marB="73152" anchor="ctr">
                    <a:lnL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9056016"/>
                  </a:ext>
                </a:extLst>
              </a:tr>
            </a:tbl>
          </a:graphicData>
        </a:graphic>
      </p:graphicFrame>
      <p:sp>
        <p:nvSpPr>
          <p:cNvPr id="3" name="Text 0">
            <a:extLst>
              <a:ext uri="{FF2B5EF4-FFF2-40B4-BE49-F238E27FC236}">
                <a16:creationId xmlns:a16="http://schemas.microsoft.com/office/drawing/2014/main" id="{907CCE09-5062-D4DF-AFFB-7CF819734216}"/>
              </a:ext>
            </a:extLst>
          </p:cNvPr>
          <p:cNvSpPr/>
          <p:nvPr/>
        </p:nvSpPr>
        <p:spPr>
          <a:xfrm>
            <a:off x="469901" y="723903"/>
            <a:ext cx="10439403" cy="132079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219169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400" b="0" i="0" u="none" strike="noStrike" kern="1200" cap="none" spc="0" baseline="0">
                <a:solidFill>
                  <a:srgbClr val="000000"/>
                </a:solidFill>
                <a:uFillTx/>
                <a:latin typeface="Montserrat ExtraBold"/>
              </a:rPr>
              <a:t>Functional Requirements</a:t>
            </a: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97A2A183-26F5-0887-E7CE-67288CF36D81}"/>
              </a:ext>
            </a:extLst>
          </p:cNvPr>
          <p:cNvSpPr/>
          <p:nvPr/>
        </p:nvSpPr>
        <p:spPr>
          <a:xfrm>
            <a:off x="1219196" y="1219196"/>
            <a:ext cx="1219196" cy="121919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Open Sans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9BB401E-4FF6-1FB2-6DEB-7365671823BB}"/>
              </a:ext>
            </a:extLst>
          </p:cNvPr>
          <p:cNvSpPr/>
          <p:nvPr/>
        </p:nvSpPr>
        <p:spPr>
          <a:xfrm>
            <a:off x="584201" y="2235195"/>
            <a:ext cx="4864095" cy="52069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1219169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 dirty="0">
                <a:solidFill>
                  <a:srgbClr val="000000"/>
                </a:solidFill>
                <a:uFillTx/>
                <a:latin typeface="Open Sans"/>
                <a:ea typeface="Open Sans"/>
                <a:cs typeface="Open Sans"/>
              </a:rPr>
              <a:t>This table summarizes essential functional requirements to ensure a basic simulation of forest fire dynamics.</a:t>
            </a:r>
          </a:p>
        </p:txBody>
      </p:sp>
      <p:sp>
        <p:nvSpPr>
          <p:cNvPr id="6" name="Slide Number Placeholder 0">
            <a:extLst>
              <a:ext uri="{FF2B5EF4-FFF2-40B4-BE49-F238E27FC236}">
                <a16:creationId xmlns:a16="http://schemas.microsoft.com/office/drawing/2014/main" id="{96E29F17-CA7C-B184-2AB4-39F059C894BA}"/>
              </a:ext>
            </a:extLst>
          </p:cNvPr>
          <p:cNvSpPr txBox="1"/>
          <p:nvPr/>
        </p:nvSpPr>
        <p:spPr>
          <a:xfrm>
            <a:off x="11226802" y="6146797"/>
            <a:ext cx="952503" cy="2667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1625519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8ED33EE-3820-4301-AE80-837428F8426E}" type="slidenum">
              <a:rPr lang="en-US" sz="1200" b="0" i="0" u="none" strike="noStrike" kern="1200" cap="none" spc="0" baseline="0">
                <a:solidFill>
                  <a:srgbClr val="FF4D00"/>
                </a:solidFill>
                <a:uFillTx/>
                <a:latin typeface="Open Sans"/>
                <a:ea typeface="Open Sans"/>
                <a:cs typeface="Open Sans"/>
              </a:rPr>
              <a:t>3</a:t>
            </a:fld>
            <a:endParaRPr lang="en-US" sz="1200" b="0" i="0" u="none" strike="noStrike" kern="1200" cap="none" spc="0" baseline="0">
              <a:solidFill>
                <a:srgbClr val="FF4D00"/>
              </a:solidFill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F392B2-0B70-7E0C-6638-21FCA8DDA8D5}"/>
              </a:ext>
            </a:extLst>
          </p:cNvPr>
          <p:cNvSpPr/>
          <p:nvPr/>
        </p:nvSpPr>
        <p:spPr>
          <a:xfrm>
            <a:off x="7040908" y="6404535"/>
            <a:ext cx="4263586" cy="444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">
    <p:bg>
      <p:bgPr>
        <a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0">
            <a:extLst>
              <a:ext uri="{FF2B5EF4-FFF2-40B4-BE49-F238E27FC236}">
                <a16:creationId xmlns:a16="http://schemas.microsoft.com/office/drawing/2014/main" id="{9F5A98A8-7917-E1FB-1080-4560E790B0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0922001"/>
              </p:ext>
            </p:extLst>
          </p:nvPr>
        </p:nvGraphicFramePr>
        <p:xfrm>
          <a:off x="609603" y="3332895"/>
          <a:ext cx="10363195" cy="1865382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851333">
                  <a:extLst>
                    <a:ext uri="{9D8B030D-6E8A-4147-A177-3AD203B41FA5}">
                      <a16:colId xmlns:a16="http://schemas.microsoft.com/office/drawing/2014/main" val="3673622935"/>
                    </a:ext>
                  </a:extLst>
                </a:gridCol>
                <a:gridCol w="2596054">
                  <a:extLst>
                    <a:ext uri="{9D8B030D-6E8A-4147-A177-3AD203B41FA5}">
                      <a16:colId xmlns:a16="http://schemas.microsoft.com/office/drawing/2014/main" val="3180948032"/>
                    </a:ext>
                  </a:extLst>
                </a:gridCol>
                <a:gridCol w="6915808">
                  <a:extLst>
                    <a:ext uri="{9D8B030D-6E8A-4147-A177-3AD203B41FA5}">
                      <a16:colId xmlns:a16="http://schemas.microsoft.com/office/drawing/2014/main" val="678212008"/>
                    </a:ext>
                  </a:extLst>
                </a:gridCol>
              </a:tblGrid>
              <a:tr h="35966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Open Sans" pitchFamily="34"/>
                          <a:ea typeface="Open Sans" pitchFamily="34"/>
                          <a:cs typeface="Open Sans" pitchFamily="34"/>
                        </a:rPr>
                        <a:t>ID</a:t>
                      </a:r>
                      <a:endParaRPr lang="en-US" sz="14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73152" marR="73152" marT="73152" marB="73152" anchor="ctr">
                    <a:lnL>
                      <a:noFill/>
                    </a:lnL>
                    <a:lnR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Open Sans" pitchFamily="34"/>
                          <a:ea typeface="Open Sans" pitchFamily="34"/>
                          <a:cs typeface="Open Sans" pitchFamily="34"/>
                        </a:rPr>
                        <a:t>REQUIREMENT</a:t>
                      </a:r>
                      <a:endParaRPr lang="en-US" sz="14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73152" marR="73152" marT="73152" marB="73152" anchor="ctr">
                    <a:lnL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Open Sans" pitchFamily="34"/>
                          <a:ea typeface="Open Sans" pitchFamily="34"/>
                          <a:cs typeface="Open Sans" pitchFamily="34"/>
                        </a:rPr>
                        <a:t>DESCRIPTION</a:t>
                      </a:r>
                      <a:endParaRPr lang="en-US" sz="14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73152" marR="73152" marT="73152" marB="73152" anchor="ctr">
                    <a:lnL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6364243"/>
                  </a:ext>
                </a:extLst>
              </a:tr>
              <a:tr h="573027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Open Sans" pitchFamily="34"/>
                          <a:ea typeface="Open Sans" pitchFamily="34"/>
                          <a:cs typeface="Open Sans" pitchFamily="34"/>
                        </a:rPr>
                        <a:t>Tq01</a:t>
                      </a:r>
                      <a:endParaRPr lang="en-US" sz="14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73152" marR="73152" marT="73152" marB="73152" anchor="ctr">
                    <a:lnL>
                      <a:noFill/>
                    </a:lnL>
                    <a:lnR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Open Sans" pitchFamily="34"/>
                          <a:ea typeface="Open Sans" pitchFamily="34"/>
                          <a:cs typeface="Open Sans" pitchFamily="34"/>
                        </a:rPr>
                        <a:t>Language</a:t>
                      </a:r>
                      <a:endParaRPr lang="en-US" sz="14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73152" marR="73152" marT="73152" marB="73152" anchor="ctr">
                    <a:lnL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Open Sans" pitchFamily="34"/>
                          <a:ea typeface="Open Sans" pitchFamily="34"/>
                          <a:cs typeface="Open Sans" pitchFamily="34"/>
                        </a:rPr>
                        <a:t>Code must be written exclusively in English.</a:t>
                      </a:r>
                      <a:endParaRPr lang="en-US" sz="14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73152" marR="73152" marT="73152" marB="73152" anchor="ctr">
                    <a:lnL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7375402"/>
                  </a:ext>
                </a:extLst>
              </a:tr>
              <a:tr h="35966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Open Sans" pitchFamily="34"/>
                          <a:ea typeface="Open Sans" pitchFamily="34"/>
                          <a:cs typeface="Open Sans" pitchFamily="34"/>
                        </a:rPr>
                        <a:t>Tq02</a:t>
                      </a:r>
                      <a:endParaRPr lang="en-US" sz="14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73152" marR="73152" marT="73152" marB="73152" anchor="ctr">
                    <a:lnL>
                      <a:noFill/>
                    </a:lnL>
                    <a:lnR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Open Sans" pitchFamily="34"/>
                          <a:ea typeface="Open Sans" pitchFamily="34"/>
                          <a:cs typeface="Open Sans" pitchFamily="34"/>
                        </a:rPr>
                        <a:t>Backend Technology</a:t>
                      </a:r>
                      <a:endParaRPr lang="en-US" sz="14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73152" marR="73152" marT="73152" marB="73152" anchor="ctr">
                    <a:lnL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Open Sans" pitchFamily="34"/>
                          <a:ea typeface="Open Sans" pitchFamily="34"/>
                          <a:cs typeface="Open Sans" pitchFamily="34"/>
                        </a:rPr>
                        <a:t>Java is used for backend development.</a:t>
                      </a:r>
                      <a:endParaRPr lang="en-US" sz="14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73152" marR="73152" marT="73152" marB="73152" anchor="ctr">
                    <a:lnL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995247"/>
                  </a:ext>
                </a:extLst>
              </a:tr>
              <a:tr h="573027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Open Sans" pitchFamily="34"/>
                          <a:ea typeface="Open Sans" pitchFamily="34"/>
                          <a:cs typeface="Open Sans" pitchFamily="34"/>
                        </a:rPr>
                        <a:t>Tq03</a:t>
                      </a:r>
                      <a:endParaRPr lang="en-US" sz="14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73152" marR="73152" marT="73152" marB="73152" anchor="ctr">
                    <a:lnL>
                      <a:noFill/>
                    </a:lnL>
                    <a:lnR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Open Sans" pitchFamily="34"/>
                          <a:ea typeface="Open Sans" pitchFamily="34"/>
                          <a:cs typeface="Open Sans" pitchFamily="34"/>
                        </a:rPr>
                        <a:t>Frontend Technology</a:t>
                      </a:r>
                      <a:endParaRPr lang="en-US" sz="14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73152" marR="73152" marT="73152" marB="73152" anchor="ctr">
                    <a:lnL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ns" pitchFamily="34"/>
                          <a:ea typeface="Open Sans" pitchFamily="34"/>
                          <a:cs typeface="Open Sans" pitchFamily="34"/>
                        </a:rPr>
                        <a:t>JavaScript or TypeScript is utilized for the frontend.</a:t>
                      </a:r>
                      <a:endParaRPr lang="en-US" sz="1400" dirty="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73152" marR="73152" marT="73152" marB="73152" anchor="ctr">
                    <a:lnL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1" cap="flat" cmpd="sng" algn="ctr">
                      <a:solidFill>
                        <a:srgbClr val="A6A6A6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7428915"/>
                  </a:ext>
                </a:extLst>
              </a:tr>
            </a:tbl>
          </a:graphicData>
        </a:graphic>
      </p:graphicFrame>
      <p:sp>
        <p:nvSpPr>
          <p:cNvPr id="3" name="Text 0">
            <a:extLst>
              <a:ext uri="{FF2B5EF4-FFF2-40B4-BE49-F238E27FC236}">
                <a16:creationId xmlns:a16="http://schemas.microsoft.com/office/drawing/2014/main" id="{B0D1FC93-A97C-6426-4E3C-37AECC6ADBE5}"/>
              </a:ext>
            </a:extLst>
          </p:cNvPr>
          <p:cNvSpPr/>
          <p:nvPr/>
        </p:nvSpPr>
        <p:spPr>
          <a:xfrm>
            <a:off x="469901" y="723903"/>
            <a:ext cx="10439403" cy="132079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219169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400" b="0" i="0" u="none" strike="noStrike" kern="1200" cap="none" spc="0" baseline="0">
                <a:solidFill>
                  <a:srgbClr val="000000"/>
                </a:solidFill>
                <a:uFillTx/>
                <a:latin typeface="Montserrat ExtraBold"/>
              </a:rPr>
              <a:t>Technical Requirements</a:t>
            </a: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6FC1BFC5-36FC-B9F2-0E87-F8138B999E40}"/>
              </a:ext>
            </a:extLst>
          </p:cNvPr>
          <p:cNvSpPr/>
          <p:nvPr/>
        </p:nvSpPr>
        <p:spPr>
          <a:xfrm>
            <a:off x="1219196" y="1219196"/>
            <a:ext cx="1219196" cy="121919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Open Sans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7165394-3314-16ED-5897-9122B194CBB3}"/>
              </a:ext>
            </a:extLst>
          </p:cNvPr>
          <p:cNvSpPr/>
          <p:nvPr/>
        </p:nvSpPr>
        <p:spPr>
          <a:xfrm>
            <a:off x="584201" y="2235195"/>
            <a:ext cx="4864095" cy="52069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1219169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 dirty="0">
                <a:solidFill>
                  <a:srgbClr val="000000"/>
                </a:solidFill>
                <a:uFillTx/>
                <a:latin typeface="Open Sans"/>
                <a:ea typeface="Open Sans"/>
                <a:cs typeface="Open Sans"/>
              </a:rPr>
              <a:t>This table outlines the technical requirements and technologies used to develop the forest fire simulation application.</a:t>
            </a:r>
          </a:p>
        </p:txBody>
      </p:sp>
      <p:sp>
        <p:nvSpPr>
          <p:cNvPr id="6" name="Slide Number Placeholder 0">
            <a:extLst>
              <a:ext uri="{FF2B5EF4-FFF2-40B4-BE49-F238E27FC236}">
                <a16:creationId xmlns:a16="http://schemas.microsoft.com/office/drawing/2014/main" id="{2FF80262-6F3B-C05B-D24E-4021C4897FFA}"/>
              </a:ext>
            </a:extLst>
          </p:cNvPr>
          <p:cNvSpPr txBox="1"/>
          <p:nvPr/>
        </p:nvSpPr>
        <p:spPr>
          <a:xfrm>
            <a:off x="11226802" y="6146797"/>
            <a:ext cx="952503" cy="2667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1625519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029DD5A-6757-452C-B1E5-6848B1D8918E}" type="slidenum">
              <a:rPr lang="en-US" sz="1200" b="0" i="0" u="none" strike="noStrike" kern="1200" cap="none" spc="0" baseline="0">
                <a:solidFill>
                  <a:srgbClr val="FF4D00"/>
                </a:solidFill>
                <a:uFillTx/>
                <a:latin typeface="Open Sans"/>
                <a:ea typeface="Open Sans"/>
                <a:cs typeface="Open Sans"/>
              </a:rPr>
              <a:t>4</a:t>
            </a:fld>
            <a:endParaRPr lang="en-US" sz="1200" b="0" i="0" u="none" strike="noStrike" kern="1200" cap="none" spc="0" baseline="0">
              <a:solidFill>
                <a:srgbClr val="FF4D00"/>
              </a:solidFill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CF98CA-6596-22D4-0113-782D0D135476}"/>
              </a:ext>
            </a:extLst>
          </p:cNvPr>
          <p:cNvSpPr/>
          <p:nvPr/>
        </p:nvSpPr>
        <p:spPr>
          <a:xfrm>
            <a:off x="7040908" y="6395570"/>
            <a:ext cx="4263586" cy="444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DC3D2-F995-86FB-C2A7-A7126AF9C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F4A422FF-3CE5-F047-EC8F-710548225F27}"/>
              </a:ext>
            </a:extLst>
          </p:cNvPr>
          <p:cNvSpPr txBox="1"/>
          <p:nvPr/>
        </p:nvSpPr>
        <p:spPr>
          <a:xfrm>
            <a:off x="11232096" y="478121"/>
            <a:ext cx="959909" cy="5627949"/>
          </a:xfrm>
          <a:prstGeom prst="rect">
            <a:avLst/>
          </a:prstGeom>
          <a:noFill/>
          <a:ln cap="flat">
            <a:noFill/>
          </a:ln>
        </p:spPr>
        <p:txBody>
          <a:bodyPr vert="vert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FF4D00"/>
                </a:solidFill>
                <a:uFillTx/>
                <a:latin typeface="Montserrat SemiBold" pitchFamily="2"/>
              </a:rPr>
              <a:t>Forest Fire Simulation App</a:t>
            </a:r>
            <a:endParaRPr lang="en-ID" sz="1200" b="0" i="0" u="none" strike="noStrike" kern="1200" cap="none" spc="0" baseline="0">
              <a:solidFill>
                <a:srgbClr val="FF4D00"/>
              </a:solidFill>
              <a:uFillTx/>
              <a:latin typeface="Montserrat SemiBold" pitchFamily="2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8D5CFFB-95AE-6F95-9AF5-0A48263087AB}"/>
              </a:ext>
            </a:extLst>
          </p:cNvPr>
          <p:cNvSpPr txBox="1"/>
          <p:nvPr/>
        </p:nvSpPr>
        <p:spPr>
          <a:xfrm>
            <a:off x="11232096" y="6159087"/>
            <a:ext cx="959909" cy="2737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807ABF6-3B87-4E7D-BAE6-D8791A25C1CC}" type="slidenum">
              <a:rPr lang="en-ID" sz="1200" b="0" i="0" u="none" strike="noStrike" kern="1200" cap="none" spc="0" baseline="0">
                <a:solidFill>
                  <a:srgbClr val="FF4D00"/>
                </a:solidFill>
                <a:uFillTx/>
                <a:latin typeface="Montserrat SemiBold" pitchFamily="2"/>
              </a:rPr>
              <a:t>5</a:t>
            </a:fld>
            <a:endParaRPr lang="en-ID" sz="1200" b="0" i="0" u="none" strike="noStrike" kern="1200" cap="none" spc="0" baseline="0">
              <a:solidFill>
                <a:srgbClr val="FF4D00"/>
              </a:solidFill>
              <a:uFillTx/>
              <a:latin typeface="Montserrat SemiBold" pitchFamily="2"/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A51E3714-5D03-1696-5D12-7913F9BCF2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8621" y="340656"/>
            <a:ext cx="5997577" cy="706331"/>
          </a:xfrm>
        </p:spPr>
        <p:txBody>
          <a:bodyPr/>
          <a:lstStyle/>
          <a:p>
            <a:pPr lvl="0"/>
            <a:r>
              <a:rPr lang="fr-FR" dirty="0"/>
              <a:t>Application Architecture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CA0DC72F-2951-7451-9CBE-95E1445B8F7C}"/>
              </a:ext>
            </a:extLst>
          </p:cNvPr>
          <p:cNvGrpSpPr/>
          <p:nvPr/>
        </p:nvGrpSpPr>
        <p:grpSpPr>
          <a:xfrm>
            <a:off x="476219" y="3337802"/>
            <a:ext cx="10636543" cy="2523133"/>
            <a:chOff x="478154" y="3428999"/>
            <a:chExt cx="10366351" cy="252313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5656595-0B88-0A4B-5A92-3EE185FD7DBE}"/>
                </a:ext>
              </a:extLst>
            </p:cNvPr>
            <p:cNvSpPr/>
            <p:nvPr/>
          </p:nvSpPr>
          <p:spPr>
            <a:xfrm>
              <a:off x="478154" y="3508128"/>
              <a:ext cx="3606645" cy="2369127"/>
            </a:xfrm>
            <a:prstGeom prst="rect">
              <a:avLst/>
            </a:prstGeom>
            <a:noFill/>
            <a:ln w="381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849E431A-9D90-7777-2BC9-BC26CB14E9F6}"/>
                </a:ext>
              </a:extLst>
            </p:cNvPr>
            <p:cNvSpPr txBox="1"/>
            <p:nvPr/>
          </p:nvSpPr>
          <p:spPr>
            <a:xfrm>
              <a:off x="1012459" y="3610853"/>
              <a:ext cx="7665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err="1"/>
                <a:t>React</a:t>
              </a:r>
              <a:endParaRPr lang="fr-FR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BB7CA10-8FE2-8118-D036-44542E326A06}"/>
                </a:ext>
              </a:extLst>
            </p:cNvPr>
            <p:cNvSpPr/>
            <p:nvPr/>
          </p:nvSpPr>
          <p:spPr>
            <a:xfrm>
              <a:off x="6646718" y="3428999"/>
              <a:ext cx="4197787" cy="2369127"/>
            </a:xfrm>
            <a:prstGeom prst="rect">
              <a:avLst/>
            </a:prstGeom>
            <a:noFill/>
            <a:ln w="28575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C93922A-1CCB-33E6-E0A8-B4F2223612F8}"/>
                </a:ext>
              </a:extLst>
            </p:cNvPr>
            <p:cNvSpPr/>
            <p:nvPr/>
          </p:nvSpPr>
          <p:spPr>
            <a:xfrm>
              <a:off x="633477" y="4115278"/>
              <a:ext cx="1742414" cy="97674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000" b="1" dirty="0">
                  <a:solidFill>
                    <a:schemeClr val="tx1"/>
                  </a:solidFill>
                </a:rPr>
                <a:t>Components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F0ABB8B-90D9-08BB-B974-61320FA1E67A}"/>
                </a:ext>
              </a:extLst>
            </p:cNvPr>
            <p:cNvSpPr/>
            <p:nvPr/>
          </p:nvSpPr>
          <p:spPr>
            <a:xfrm>
              <a:off x="2499570" y="4122683"/>
              <a:ext cx="1375211" cy="97674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000" b="1" dirty="0">
                  <a:solidFill>
                    <a:schemeClr val="tx1"/>
                  </a:solidFill>
                </a:rPr>
                <a:t>Service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93359AF-469D-F982-50D5-AE46414C4FA3}"/>
                </a:ext>
              </a:extLst>
            </p:cNvPr>
            <p:cNvSpPr/>
            <p:nvPr/>
          </p:nvSpPr>
          <p:spPr>
            <a:xfrm>
              <a:off x="3480923" y="5042928"/>
              <a:ext cx="1311777" cy="909204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tx1"/>
                  </a:solidFill>
                </a:rPr>
                <a:t>Axios HTTP Library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F07E2CE-8E70-8F35-0D92-97A1F008CACA}"/>
                </a:ext>
              </a:extLst>
            </p:cNvPr>
            <p:cNvSpPr/>
            <p:nvPr/>
          </p:nvSpPr>
          <p:spPr>
            <a:xfrm>
              <a:off x="6745828" y="4125188"/>
              <a:ext cx="1304059" cy="103909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Controller Layer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ACF59FF-D7A9-B853-2577-DC2DA032E189}"/>
                </a:ext>
              </a:extLst>
            </p:cNvPr>
            <p:cNvSpPr/>
            <p:nvPr/>
          </p:nvSpPr>
          <p:spPr>
            <a:xfrm>
              <a:off x="8087813" y="4125186"/>
              <a:ext cx="1213608" cy="103909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Service Layer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ECC0D8A-75EB-5F00-E943-B43E38B1F7CC}"/>
                </a:ext>
              </a:extLst>
            </p:cNvPr>
            <p:cNvSpPr/>
            <p:nvPr/>
          </p:nvSpPr>
          <p:spPr>
            <a:xfrm>
              <a:off x="9383094" y="4125186"/>
              <a:ext cx="1359422" cy="1039093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1600" b="1" dirty="0"/>
                <a:t>Repository or DAO Layer</a:t>
              </a:r>
            </a:p>
          </p:txBody>
        </p:sp>
        <p:sp>
          <p:nvSpPr>
            <p:cNvPr id="21" name="Flèche : droite 20">
              <a:extLst>
                <a:ext uri="{FF2B5EF4-FFF2-40B4-BE49-F238E27FC236}">
                  <a16:creationId xmlns:a16="http://schemas.microsoft.com/office/drawing/2014/main" id="{9EFD5371-244F-3C42-C34A-8BCE39B94529}"/>
                </a:ext>
              </a:extLst>
            </p:cNvPr>
            <p:cNvSpPr/>
            <p:nvPr/>
          </p:nvSpPr>
          <p:spPr>
            <a:xfrm>
              <a:off x="3973892" y="4239490"/>
              <a:ext cx="2652339" cy="308448"/>
            </a:xfrm>
            <a:prstGeom prst="rightArrow">
              <a:avLst>
                <a:gd name="adj1" fmla="val 34313"/>
                <a:gd name="adj2" fmla="val 5000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2" name="Flèche : gauche 21">
              <a:extLst>
                <a:ext uri="{FF2B5EF4-FFF2-40B4-BE49-F238E27FC236}">
                  <a16:creationId xmlns:a16="http://schemas.microsoft.com/office/drawing/2014/main" id="{9478A64C-D8DD-19FA-EBA6-3176F59BAB64}"/>
                </a:ext>
              </a:extLst>
            </p:cNvPr>
            <p:cNvSpPr/>
            <p:nvPr/>
          </p:nvSpPr>
          <p:spPr>
            <a:xfrm>
              <a:off x="4033215" y="4692691"/>
              <a:ext cx="2527691" cy="228600"/>
            </a:xfrm>
            <a:prstGeom prst="lef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7" name="ZoneTexte 26">
            <a:extLst>
              <a:ext uri="{FF2B5EF4-FFF2-40B4-BE49-F238E27FC236}">
                <a16:creationId xmlns:a16="http://schemas.microsoft.com/office/drawing/2014/main" id="{939AE40F-243E-F3C8-A6C7-F077886CD45D}"/>
              </a:ext>
            </a:extLst>
          </p:cNvPr>
          <p:cNvSpPr txBox="1"/>
          <p:nvPr/>
        </p:nvSpPr>
        <p:spPr>
          <a:xfrm>
            <a:off x="7535226" y="3400069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Spring Boot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8679D9D3-027F-97E6-3676-476304D06C9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48621" y="1154936"/>
            <a:ext cx="3700650" cy="383956"/>
          </a:xfrm>
        </p:spPr>
        <p:txBody>
          <a:bodyPr lIns="90004" tIns="0" rIns="90004" bIns="0">
            <a:noAutofit/>
          </a:bodyPr>
          <a:lstStyle/>
          <a:p>
            <a:pPr lvl="0"/>
            <a:r>
              <a:rPr lang="fr-FR" sz="1400" b="1" dirty="0"/>
              <a:t>DIAGRAM OVERVIEW</a:t>
            </a:r>
          </a:p>
        </p:txBody>
      </p:sp>
      <p:pic>
        <p:nvPicPr>
          <p:cNvPr id="40" name="Image 39">
            <a:extLst>
              <a:ext uri="{FF2B5EF4-FFF2-40B4-BE49-F238E27FC236}">
                <a16:creationId xmlns:a16="http://schemas.microsoft.com/office/drawing/2014/main" id="{61080879-6FD3-B8D0-F4B4-B7ECA016B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017" y="3390449"/>
            <a:ext cx="724885" cy="617285"/>
          </a:xfrm>
          <a:prstGeom prst="rect">
            <a:avLst/>
          </a:prstGeom>
        </p:spPr>
      </p:pic>
      <p:pic>
        <p:nvPicPr>
          <p:cNvPr id="42" name="Image 41">
            <a:extLst>
              <a:ext uri="{FF2B5EF4-FFF2-40B4-BE49-F238E27FC236}">
                <a16:creationId xmlns:a16="http://schemas.microsoft.com/office/drawing/2014/main" id="{15AB05B3-0709-7BB6-3E01-9D0CE4357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6482" y="3429000"/>
            <a:ext cx="540763" cy="554748"/>
          </a:xfrm>
          <a:prstGeom prst="rect">
            <a:avLst/>
          </a:prstGeom>
        </p:spPr>
      </p:pic>
      <p:sp>
        <p:nvSpPr>
          <p:cNvPr id="43" name="Légende : encadrée 42">
            <a:extLst>
              <a:ext uri="{FF2B5EF4-FFF2-40B4-BE49-F238E27FC236}">
                <a16:creationId xmlns:a16="http://schemas.microsoft.com/office/drawing/2014/main" id="{6BD7050B-1EA0-AAF6-A868-A1CEF2535C3F}"/>
              </a:ext>
            </a:extLst>
          </p:cNvPr>
          <p:cNvSpPr/>
          <p:nvPr/>
        </p:nvSpPr>
        <p:spPr>
          <a:xfrm>
            <a:off x="3009900" y="1232320"/>
            <a:ext cx="3086100" cy="1025335"/>
          </a:xfrm>
          <a:prstGeom prst="borderCallout1">
            <a:avLst>
              <a:gd name="adj1" fmla="val 27871"/>
              <a:gd name="adj2" fmla="val 102105"/>
              <a:gd name="adj3" fmla="val 270593"/>
              <a:gd name="adj4" fmla="val 127997"/>
            </a:avLst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0" i="0" dirty="0">
                <a:solidFill>
                  <a:srgbClr val="000000"/>
                </a:solidFill>
                <a:effectLst/>
              </a:rPr>
              <a:t>Receives user requests through the user interface, processes them, and returns responses</a:t>
            </a:r>
            <a:endParaRPr lang="fr-FR" sz="1400" dirty="0"/>
          </a:p>
        </p:txBody>
      </p:sp>
      <p:sp>
        <p:nvSpPr>
          <p:cNvPr id="44" name="Légende : encadrée 43">
            <a:extLst>
              <a:ext uri="{FF2B5EF4-FFF2-40B4-BE49-F238E27FC236}">
                <a16:creationId xmlns:a16="http://schemas.microsoft.com/office/drawing/2014/main" id="{ADE0F17C-741F-65C9-3370-CC8EA7E62ACE}"/>
              </a:ext>
            </a:extLst>
          </p:cNvPr>
          <p:cNvSpPr/>
          <p:nvPr/>
        </p:nvSpPr>
        <p:spPr>
          <a:xfrm>
            <a:off x="6740518" y="1240970"/>
            <a:ext cx="1957722" cy="1025335"/>
          </a:xfrm>
          <a:prstGeom prst="borderCallout1">
            <a:avLst>
              <a:gd name="adj1" fmla="val 101850"/>
              <a:gd name="adj2" fmla="val 87774"/>
              <a:gd name="adj3" fmla="val 265526"/>
              <a:gd name="adj4" fmla="val 101464"/>
            </a:avLst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tx1"/>
                </a:solidFill>
              </a:rPr>
              <a:t>Logic Forest Fire Simulation</a:t>
            </a:r>
          </a:p>
        </p:txBody>
      </p:sp>
      <p:sp>
        <p:nvSpPr>
          <p:cNvPr id="45" name="Légende : encadrée 44">
            <a:extLst>
              <a:ext uri="{FF2B5EF4-FFF2-40B4-BE49-F238E27FC236}">
                <a16:creationId xmlns:a16="http://schemas.microsoft.com/office/drawing/2014/main" id="{D3BDA4FE-AD10-0B92-D9B7-6C9CC64EACBD}"/>
              </a:ext>
            </a:extLst>
          </p:cNvPr>
          <p:cNvSpPr/>
          <p:nvPr/>
        </p:nvSpPr>
        <p:spPr>
          <a:xfrm>
            <a:off x="8817574" y="1240971"/>
            <a:ext cx="2337388" cy="1025335"/>
          </a:xfrm>
          <a:prstGeom prst="borderCallout1">
            <a:avLst>
              <a:gd name="adj1" fmla="val 101850"/>
              <a:gd name="adj2" fmla="val 87774"/>
              <a:gd name="adj3" fmla="val 272620"/>
              <a:gd name="adj4" fmla="val 67557"/>
            </a:avLst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CRUD (Create, Read, Update, Delete) operations. SQL queries</a:t>
            </a:r>
          </a:p>
        </p:txBody>
      </p:sp>
      <p:sp>
        <p:nvSpPr>
          <p:cNvPr id="46" name="Légende : encadrée 45">
            <a:extLst>
              <a:ext uri="{FF2B5EF4-FFF2-40B4-BE49-F238E27FC236}">
                <a16:creationId xmlns:a16="http://schemas.microsoft.com/office/drawing/2014/main" id="{2735A6D5-608F-97BF-D483-F2253BAFA966}"/>
              </a:ext>
            </a:extLst>
          </p:cNvPr>
          <p:cNvSpPr/>
          <p:nvPr/>
        </p:nvSpPr>
        <p:spPr>
          <a:xfrm>
            <a:off x="384770" y="5503222"/>
            <a:ext cx="2547485" cy="904174"/>
          </a:xfrm>
          <a:prstGeom prst="borderCallout1">
            <a:avLst>
              <a:gd name="adj1" fmla="val -10053"/>
              <a:gd name="adj2" fmla="val 28031"/>
              <a:gd name="adj3" fmla="val -54406"/>
              <a:gd name="adj4" fmla="val 54260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component contains its logic, state, and rendering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48" name="Légende : encadrée 47">
            <a:extLst>
              <a:ext uri="{FF2B5EF4-FFF2-40B4-BE49-F238E27FC236}">
                <a16:creationId xmlns:a16="http://schemas.microsoft.com/office/drawing/2014/main" id="{640C8E6C-50AD-182E-B17A-8121C8E205CC}"/>
              </a:ext>
            </a:extLst>
          </p:cNvPr>
          <p:cNvSpPr/>
          <p:nvPr/>
        </p:nvSpPr>
        <p:spPr>
          <a:xfrm>
            <a:off x="5269610" y="5985642"/>
            <a:ext cx="2236682" cy="582691"/>
          </a:xfrm>
          <a:prstGeom prst="borderCallout1">
            <a:avLst>
              <a:gd name="adj1" fmla="val 27871"/>
              <a:gd name="adj2" fmla="val -565"/>
              <a:gd name="adj3" fmla="val -75995"/>
              <a:gd name="adj4" fmla="val -23181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 requests and process responses</a:t>
            </a: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9" name="Légende : encadrée 48">
            <a:extLst>
              <a:ext uri="{FF2B5EF4-FFF2-40B4-BE49-F238E27FC236}">
                <a16:creationId xmlns:a16="http://schemas.microsoft.com/office/drawing/2014/main" id="{1358BDA9-4B90-0CBB-938B-5D2A4BEC9EF6}"/>
              </a:ext>
            </a:extLst>
          </p:cNvPr>
          <p:cNvSpPr/>
          <p:nvPr/>
        </p:nvSpPr>
        <p:spPr>
          <a:xfrm>
            <a:off x="255761" y="2249344"/>
            <a:ext cx="2547485" cy="818345"/>
          </a:xfrm>
          <a:prstGeom prst="borderCallout1">
            <a:avLst>
              <a:gd name="adj1" fmla="val 102786"/>
              <a:gd name="adj2" fmla="val 64171"/>
              <a:gd name="adj3" fmla="val 204418"/>
              <a:gd name="adj4" fmla="val 102237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0" i="0" dirty="0">
                <a:solidFill>
                  <a:schemeClr val="tx1"/>
                </a:solidFill>
                <a:effectLst/>
                <a:latin typeface="Canva Sans"/>
              </a:rPr>
              <a:t>Abstract logic handling of API calls and HTTP requests</a:t>
            </a:r>
            <a:r>
              <a:rPr lang="fr-FR" sz="1400" b="0" i="0" dirty="0">
                <a:solidFill>
                  <a:schemeClr val="tx1"/>
                </a:solidFill>
                <a:effectLst/>
                <a:latin typeface="Canva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9622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F15A420A-73A6-0E4F-6655-B15EF712F653}"/>
              </a:ext>
            </a:extLst>
          </p:cNvPr>
          <p:cNvSpPr txBox="1"/>
          <p:nvPr/>
        </p:nvSpPr>
        <p:spPr>
          <a:xfrm>
            <a:off x="11232096" y="478121"/>
            <a:ext cx="959909" cy="5627949"/>
          </a:xfrm>
          <a:prstGeom prst="rect">
            <a:avLst/>
          </a:prstGeom>
          <a:noFill/>
          <a:ln cap="flat">
            <a:noFill/>
          </a:ln>
        </p:spPr>
        <p:txBody>
          <a:bodyPr vert="vert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FF4D00"/>
                </a:solidFill>
                <a:uFillTx/>
                <a:latin typeface="Montserrat SemiBold" pitchFamily="2"/>
              </a:rPr>
              <a:t>Forest Fire Simulation App</a:t>
            </a:r>
            <a:endParaRPr lang="en-ID" sz="1200" b="0" i="0" u="none" strike="noStrike" kern="1200" cap="none" spc="0" baseline="0">
              <a:solidFill>
                <a:srgbClr val="FF4D00"/>
              </a:solidFill>
              <a:uFillTx/>
              <a:latin typeface="Montserrat SemiBold" pitchFamily="2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13F638E-AEAB-A2EF-1220-41D680D469E5}"/>
              </a:ext>
            </a:extLst>
          </p:cNvPr>
          <p:cNvSpPr txBox="1"/>
          <p:nvPr/>
        </p:nvSpPr>
        <p:spPr>
          <a:xfrm>
            <a:off x="11232096" y="6159087"/>
            <a:ext cx="959909" cy="2737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807ABF6-3B87-4E7D-BAE6-D8791A25C1CC}" type="slidenum">
              <a:rPr lang="en-ID" sz="1200" b="0" i="0" u="none" strike="noStrike" kern="1200" cap="none" spc="0" baseline="0">
                <a:solidFill>
                  <a:srgbClr val="FF4D00"/>
                </a:solidFill>
                <a:uFillTx/>
                <a:latin typeface="Montserrat SemiBold" pitchFamily="2"/>
              </a:rPr>
              <a:t>6</a:t>
            </a:fld>
            <a:endParaRPr lang="en-ID" sz="1200" b="0" i="0" u="none" strike="noStrike" kern="1200" cap="none" spc="0" baseline="0">
              <a:solidFill>
                <a:srgbClr val="FF4D00"/>
              </a:solidFill>
              <a:uFillTx/>
              <a:latin typeface="Montserrat SemiBold" pitchFamily="2"/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C37E3C23-9924-9EC6-C264-5537FF8F78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8621" y="359859"/>
            <a:ext cx="5997577" cy="632136"/>
          </a:xfrm>
        </p:spPr>
        <p:txBody>
          <a:bodyPr/>
          <a:lstStyle/>
          <a:p>
            <a:pPr lvl="0"/>
            <a:r>
              <a:rPr lang="fr-FR" dirty="0"/>
              <a:t>Application Architecture</a:t>
            </a:r>
          </a:p>
        </p:txBody>
      </p:sp>
      <p:pic>
        <p:nvPicPr>
          <p:cNvPr id="5" name="Espace réservé pour une image  9">
            <a:extLst>
              <a:ext uri="{FF2B5EF4-FFF2-40B4-BE49-F238E27FC236}">
                <a16:creationId xmlns:a16="http://schemas.microsoft.com/office/drawing/2014/main" id="{0B6D3F75-C59F-3E2F-ED4A-0DEE2D565187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2"/>
          <a:srcRect l="10866" r="10866"/>
          <a:stretch>
            <a:fillRect/>
          </a:stretch>
        </p:blipFill>
        <p:spPr>
          <a:xfrm>
            <a:off x="7035795" y="476246"/>
            <a:ext cx="3695703" cy="5901747"/>
          </a:xfrm>
        </p:spPr>
      </p:pic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E9157942-F2BD-8154-E9CB-EFDACCE5BD7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30228" y="2714787"/>
            <a:ext cx="3109444" cy="3909927"/>
          </a:xfrm>
        </p:spPr>
        <p:txBody>
          <a:bodyPr lIns="90004" tIns="0" rIns="90004" bIns="0">
            <a:noAutofit/>
          </a:bodyPr>
          <a:lstStyle/>
          <a:p>
            <a:pPr marL="171450" lvl="0" indent="-171450">
              <a:buSzPct val="100000"/>
              <a:buFont typeface="Wingdings" pitchFamily="2"/>
              <a:buChar char="Ø"/>
            </a:pPr>
            <a:r>
              <a:rPr lang="en-US" sz="2400" dirty="0"/>
              <a:t>Backend</a:t>
            </a:r>
          </a:p>
          <a:p>
            <a:pPr marL="628677" lvl="1" indent="-171450">
              <a:buSzPct val="100000"/>
              <a:buFont typeface="Wingdings" pitchFamily="2"/>
              <a:buChar char="Ø"/>
            </a:pPr>
            <a:r>
              <a:rPr lang="en-US" sz="1200" dirty="0"/>
              <a:t>Spring Boot (Web, Test)</a:t>
            </a:r>
          </a:p>
          <a:p>
            <a:pPr marL="628677" lvl="1" indent="-171450">
              <a:buSzPct val="100000"/>
              <a:buFont typeface="Wingdings" pitchFamily="2"/>
              <a:buChar char="Ø"/>
            </a:pPr>
            <a:r>
              <a:rPr lang="en-US" sz="1200" dirty="0"/>
              <a:t>H2 Database (not uses)</a:t>
            </a:r>
          </a:p>
          <a:p>
            <a:pPr marL="628677" lvl="1" indent="-171450">
              <a:buSzPct val="100000"/>
              <a:buFont typeface="Wingdings" pitchFamily="2"/>
              <a:buChar char="Ø"/>
            </a:pPr>
            <a:r>
              <a:rPr lang="en-US" sz="1200" dirty="0"/>
              <a:t>Jackson (for JSON)  serialization/deserialization)</a:t>
            </a:r>
          </a:p>
          <a:p>
            <a:pPr marL="628677" lvl="1" indent="-171450">
              <a:buSzPct val="100000"/>
              <a:buFont typeface="Wingdings" pitchFamily="2"/>
              <a:buChar char="Ø"/>
            </a:pPr>
            <a:r>
              <a:rPr lang="en-US" sz="1200" dirty="0" err="1"/>
              <a:t>Springdoc</a:t>
            </a:r>
            <a:r>
              <a:rPr lang="en-US" sz="1200" dirty="0"/>
              <a:t> </a:t>
            </a:r>
            <a:r>
              <a:rPr lang="en-US" sz="1200" dirty="0" err="1"/>
              <a:t>OpenAPI</a:t>
            </a:r>
            <a:r>
              <a:rPr lang="en-US" sz="1200" dirty="0"/>
              <a:t> (Swagger)</a:t>
            </a:r>
          </a:p>
          <a:p>
            <a:pPr marL="171450" lvl="0" indent="-171450">
              <a:buSzPct val="100000"/>
              <a:buFont typeface="Wingdings" pitchFamily="2"/>
              <a:buChar char="Ø"/>
            </a:pPr>
            <a:r>
              <a:rPr lang="en-US" sz="2400" dirty="0"/>
              <a:t>Frontend</a:t>
            </a:r>
          </a:p>
          <a:p>
            <a:pPr marL="628677" lvl="1" indent="-171450">
              <a:buSzPct val="100000"/>
              <a:buFont typeface="Wingdings" pitchFamily="2"/>
              <a:buChar char="Ø"/>
            </a:pPr>
            <a:r>
              <a:rPr lang="en-US" sz="1200" dirty="0"/>
              <a:t>React</a:t>
            </a:r>
          </a:p>
          <a:p>
            <a:pPr marL="628677" lvl="1" indent="-171450">
              <a:buSzPct val="100000"/>
              <a:buFont typeface="Wingdings" pitchFamily="2"/>
              <a:buChar char="Ø"/>
            </a:pPr>
            <a:r>
              <a:rPr lang="en-US" sz="1200" dirty="0"/>
              <a:t>Axios (for API calls)</a:t>
            </a:r>
          </a:p>
          <a:p>
            <a:pPr marL="628677" lvl="1" indent="-171450">
              <a:buSzPct val="100000"/>
              <a:buFont typeface="Wingdings" pitchFamily="2"/>
              <a:buChar char="Ø"/>
            </a:pPr>
            <a:r>
              <a:rPr lang="en-US" sz="1200" dirty="0"/>
              <a:t>TypeScript</a:t>
            </a:r>
            <a:endParaRPr lang="fr-FR" sz="1100" dirty="0"/>
          </a:p>
        </p:txBody>
      </p:sp>
      <p:sp>
        <p:nvSpPr>
          <p:cNvPr id="11" name="Rectangle : carré corné 10">
            <a:extLst>
              <a:ext uri="{FF2B5EF4-FFF2-40B4-BE49-F238E27FC236}">
                <a16:creationId xmlns:a16="http://schemas.microsoft.com/office/drawing/2014/main" id="{7328ECCD-29C6-0F26-D89B-7054FED82914}"/>
              </a:ext>
            </a:extLst>
          </p:cNvPr>
          <p:cNvSpPr/>
          <p:nvPr/>
        </p:nvSpPr>
        <p:spPr>
          <a:xfrm>
            <a:off x="4844674" y="3146611"/>
            <a:ext cx="986118" cy="1115318"/>
          </a:xfrm>
          <a:prstGeom prst="folded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Lecture de fichier </a:t>
            </a:r>
            <a:r>
              <a:rPr lang="fr-FR" sz="1400" dirty="0" err="1"/>
              <a:t>json</a:t>
            </a:r>
            <a:r>
              <a:rPr lang="fr-FR" sz="1400" dirty="0"/>
              <a:t> </a:t>
            </a:r>
          </a:p>
        </p:txBody>
      </p:sp>
      <p:cxnSp>
        <p:nvCxnSpPr>
          <p:cNvPr id="13" name="Connecteur : en angle 12">
            <a:extLst>
              <a:ext uri="{FF2B5EF4-FFF2-40B4-BE49-F238E27FC236}">
                <a16:creationId xmlns:a16="http://schemas.microsoft.com/office/drawing/2014/main" id="{77AC7F87-14A6-ED78-FD08-6D9D1B9D11BF}"/>
              </a:ext>
            </a:extLst>
          </p:cNvPr>
          <p:cNvCxnSpPr>
            <a:cxnSpLocks/>
            <a:stCxn id="11" idx="1"/>
          </p:cNvCxnSpPr>
          <p:nvPr/>
        </p:nvCxnSpPr>
        <p:spPr>
          <a:xfrm rot="10800000" flipV="1">
            <a:off x="3246184" y="3704270"/>
            <a:ext cx="1598490" cy="76911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space réservé du texte 7">
            <a:extLst>
              <a:ext uri="{FF2B5EF4-FFF2-40B4-BE49-F238E27FC236}">
                <a16:creationId xmlns:a16="http://schemas.microsoft.com/office/drawing/2014/main" id="{A0E845CA-8694-AE9D-6486-5E72ED594C7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48620" y="1117609"/>
            <a:ext cx="3695703" cy="383956"/>
          </a:xfrm>
        </p:spPr>
        <p:txBody>
          <a:bodyPr lIns="90004" tIns="0" rIns="90004" bIns="0">
            <a:noAutofit/>
          </a:bodyPr>
          <a:lstStyle/>
          <a:p>
            <a:pPr lvl="0"/>
            <a:r>
              <a:rPr lang="fr-FR" sz="1400" b="1" dirty="0"/>
              <a:t>TECHNOLOGIES UTILIZED</a:t>
            </a:r>
          </a:p>
        </p:txBody>
      </p:sp>
      <p:sp>
        <p:nvSpPr>
          <p:cNvPr id="15" name="Rectangle : carré corné 14">
            <a:extLst>
              <a:ext uri="{FF2B5EF4-FFF2-40B4-BE49-F238E27FC236}">
                <a16:creationId xmlns:a16="http://schemas.microsoft.com/office/drawing/2014/main" id="{2C525437-E3BE-C155-8FA3-2855068A6133}"/>
              </a:ext>
            </a:extLst>
          </p:cNvPr>
          <p:cNvSpPr/>
          <p:nvPr/>
        </p:nvSpPr>
        <p:spPr>
          <a:xfrm>
            <a:off x="4663147" y="4990752"/>
            <a:ext cx="986118" cy="1115318"/>
          </a:xfrm>
          <a:prstGeom prst="folded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Documentation API</a:t>
            </a:r>
          </a:p>
        </p:txBody>
      </p:sp>
      <p:cxnSp>
        <p:nvCxnSpPr>
          <p:cNvPr id="17" name="Connecteur : en angle 16">
            <a:extLst>
              <a:ext uri="{FF2B5EF4-FFF2-40B4-BE49-F238E27FC236}">
                <a16:creationId xmlns:a16="http://schemas.microsoft.com/office/drawing/2014/main" id="{B00DF20C-39FB-6F39-5305-196FC86EAA07}"/>
              </a:ext>
            </a:extLst>
          </p:cNvPr>
          <p:cNvCxnSpPr>
            <a:stCxn id="15" idx="1"/>
          </p:cNvCxnSpPr>
          <p:nvPr/>
        </p:nvCxnSpPr>
        <p:spPr>
          <a:xfrm rot="10800000">
            <a:off x="3388659" y="4769225"/>
            <a:ext cx="1274488" cy="77918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66AA4717-BB14-9212-160B-595A0609270A}"/>
              </a:ext>
            </a:extLst>
          </p:cNvPr>
          <p:cNvSpPr txBox="1"/>
          <p:nvPr/>
        </p:nvSpPr>
        <p:spPr>
          <a:xfrm>
            <a:off x="11232096" y="478121"/>
            <a:ext cx="959909" cy="5627949"/>
          </a:xfrm>
          <a:prstGeom prst="rect">
            <a:avLst/>
          </a:prstGeom>
          <a:noFill/>
          <a:ln cap="flat">
            <a:noFill/>
          </a:ln>
        </p:spPr>
        <p:txBody>
          <a:bodyPr vert="vert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FF4D00"/>
                </a:solidFill>
                <a:uFillTx/>
                <a:latin typeface="Montserrat SemiBold" pitchFamily="2"/>
              </a:rPr>
              <a:t>Forest Fire Simulation App</a:t>
            </a:r>
            <a:endParaRPr lang="en-ID" sz="1200" b="0" i="0" u="none" strike="noStrike" kern="1200" cap="none" spc="0" baseline="0">
              <a:solidFill>
                <a:srgbClr val="FF4D00"/>
              </a:solidFill>
              <a:uFillTx/>
              <a:latin typeface="Montserrat SemiBold" pitchFamily="2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BD853FA-34B9-34FE-DB1F-5114442586CC}"/>
              </a:ext>
            </a:extLst>
          </p:cNvPr>
          <p:cNvSpPr txBox="1"/>
          <p:nvPr/>
        </p:nvSpPr>
        <p:spPr>
          <a:xfrm>
            <a:off x="11232096" y="6159087"/>
            <a:ext cx="959909" cy="2737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AAB30AA-C5A8-4F51-8CED-61A2274C34E9}" type="slidenum">
              <a:rPr lang="en-ID" sz="1200" b="0" i="0" u="none" strike="noStrike" kern="1200" cap="none" spc="0" baseline="0">
                <a:solidFill>
                  <a:srgbClr val="FF4D00"/>
                </a:solidFill>
                <a:uFillTx/>
                <a:latin typeface="Montserrat SemiBold" pitchFamily="2"/>
              </a:rPr>
              <a:t>7</a:t>
            </a:fld>
            <a:endParaRPr lang="en-ID" sz="1200" b="0" i="0" u="none" strike="noStrike" kern="1200" cap="none" spc="0" baseline="0">
              <a:solidFill>
                <a:srgbClr val="FF4D00"/>
              </a:solidFill>
              <a:uFillTx/>
              <a:latin typeface="Montserrat SemiBold" pitchFamily="2"/>
            </a:endParaRPr>
          </a:p>
        </p:txBody>
      </p:sp>
      <p:pic>
        <p:nvPicPr>
          <p:cNvPr id="4" name="Espace réservé pour une image  13">
            <a:extLst>
              <a:ext uri="{FF2B5EF4-FFF2-40B4-BE49-F238E27FC236}">
                <a16:creationId xmlns:a16="http://schemas.microsoft.com/office/drawing/2014/main" id="{DBE65929-F587-9C0F-E517-5B23ACC8CD91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2"/>
          <a:srcRect l="30132" r="30132"/>
          <a:stretch>
            <a:fillRect/>
          </a:stretch>
        </p:blipFill>
        <p:spPr>
          <a:xfrm>
            <a:off x="4881734" y="2235195"/>
            <a:ext cx="2428527" cy="4074584"/>
          </a:xfrm>
        </p:spPr>
      </p:pic>
      <p:pic>
        <p:nvPicPr>
          <p:cNvPr id="5" name="Espace réservé pour une image  12">
            <a:extLst>
              <a:ext uri="{FF2B5EF4-FFF2-40B4-BE49-F238E27FC236}">
                <a16:creationId xmlns:a16="http://schemas.microsoft.com/office/drawing/2014/main" id="{D464D4E9-80EC-BB69-87DC-D594A5FA5604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/>
          <a:srcRect l="13269" r="13269"/>
          <a:stretch>
            <a:fillRect/>
          </a:stretch>
        </p:blipFill>
        <p:spPr>
          <a:xfrm>
            <a:off x="7636328" y="3604592"/>
            <a:ext cx="3186272" cy="3253407"/>
          </a:xfrm>
        </p:spPr>
      </p:pic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5FF08152-3E18-81FE-76CB-5951DB954C7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79419" y="2536755"/>
            <a:ext cx="4076248" cy="2035244"/>
          </a:xfrm>
        </p:spPr>
        <p:txBody>
          <a:bodyPr tIns="0" bIns="0">
            <a:noAutofit/>
          </a:bodyPr>
          <a:lstStyle/>
          <a:p>
            <a:pPr marL="35999" lvl="0" indent="-171450">
              <a:spcBef>
                <a:spcPts val="200"/>
              </a:spcBef>
              <a:buSzPct val="100000"/>
              <a:buFont typeface="Wingdings" pitchFamily="2"/>
              <a:buChar char="Ø"/>
            </a:pPr>
            <a:r>
              <a:rPr lang="en-US" sz="1600" b="0" dirty="0"/>
              <a:t>Setting up the backend in Java </a:t>
            </a:r>
          </a:p>
          <a:p>
            <a:pPr marL="171450" lvl="0" indent="-171450">
              <a:buSzPct val="100000"/>
              <a:buFont typeface="Wingdings" pitchFamily="2"/>
              <a:buChar char="Ø"/>
            </a:pPr>
            <a:r>
              <a:rPr lang="en-US" sz="1600" b="0" dirty="0"/>
              <a:t>Understanding </a:t>
            </a:r>
          </a:p>
          <a:p>
            <a:pPr marL="628677" lvl="1" indent="-171450">
              <a:buSzPct val="100000"/>
              <a:buFont typeface="Wingdings" pitchFamily="2"/>
              <a:buChar char="Ø"/>
            </a:pPr>
            <a:r>
              <a:rPr lang="en-US" sz="1050" dirty="0"/>
              <a:t>The interaction with TypeScript </a:t>
            </a:r>
          </a:p>
          <a:p>
            <a:pPr marL="628677" lvl="1" indent="-171450">
              <a:buSzPct val="100000"/>
              <a:buFont typeface="Wingdings" pitchFamily="2"/>
              <a:buChar char="Ø"/>
            </a:pPr>
            <a:r>
              <a:rPr lang="en-US" sz="1050" dirty="0"/>
              <a:t>Using the different configuration files</a:t>
            </a:r>
          </a:p>
          <a:p>
            <a:pPr marL="171450" lvl="0" indent="-171450">
              <a:buSzPct val="100000"/>
              <a:buFont typeface="Wingdings" pitchFamily="2"/>
              <a:buChar char="Ø"/>
            </a:pPr>
            <a:r>
              <a:rPr lang="en-US" sz="1600" b="0" dirty="0"/>
              <a:t>Installing Swagger for documenting the API "routes"</a:t>
            </a:r>
            <a:endParaRPr lang="fr-FR" sz="1600" b="0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5E68196E-E15D-1B79-1C92-5BC26EAF631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01511" y="2091755"/>
            <a:ext cx="4076248" cy="359999"/>
          </a:xfrm>
        </p:spPr>
        <p:txBody>
          <a:bodyPr tIns="0" bIns="0">
            <a:noAutofit/>
          </a:bodyPr>
          <a:lstStyle/>
          <a:p>
            <a:pPr lvl="0"/>
            <a:r>
              <a:rPr lang="fr-FR" sz="1600" b="1" dirty="0"/>
              <a:t>TECHNICAL CHALLENGES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D9E77D4-783F-4055-9E3C-457AFA4A429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79429" y="5169596"/>
            <a:ext cx="4076248" cy="803428"/>
          </a:xfrm>
        </p:spPr>
        <p:txBody>
          <a:bodyPr tIns="0" bIns="0">
            <a:noAutofit/>
          </a:bodyPr>
          <a:lstStyle/>
          <a:p>
            <a:pPr lvl="0"/>
            <a:r>
              <a:rPr lang="en-US" sz="1600" b="0" dirty="0"/>
              <a:t>A very basic user interface that allows users to start and reset is the first step</a:t>
            </a:r>
            <a:endParaRPr lang="fr-FR" sz="1600" b="0" dirty="0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2548EAF2-86A6-A7CC-574F-63C8F501D72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64259" y="4803489"/>
            <a:ext cx="4076248" cy="359999"/>
          </a:xfrm>
        </p:spPr>
        <p:txBody>
          <a:bodyPr tIns="0" bIns="0">
            <a:noAutofit/>
          </a:bodyPr>
          <a:lstStyle/>
          <a:p>
            <a:pPr lvl="0"/>
            <a:r>
              <a:rPr lang="fr-FR" sz="1600" b="1" dirty="0"/>
              <a:t>USER INTERFACE DESIGN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447D1D3B-CBA2-B7D2-D4CD-82E214C243A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636328" y="907770"/>
            <a:ext cx="3186272" cy="2290416"/>
          </a:xfrm>
        </p:spPr>
        <p:txBody>
          <a:bodyPr tIns="0" bIns="0">
            <a:noAutofit/>
          </a:bodyPr>
          <a:lstStyle/>
          <a:p>
            <a:pPr lvl="0"/>
            <a:r>
              <a:rPr lang="en-US" sz="1100" b="0"/>
              <a:t>Integrating backend and frontend technologies seamlessly required careful planning and debugging to minimize latency, I think it is a good starting architecture. </a:t>
            </a:r>
          </a:p>
          <a:p>
            <a:pPr lvl="0"/>
            <a:r>
              <a:rPr lang="en-US" sz="1100" b="0"/>
              <a:t>We will can  add Python or rust if need Fastly process.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E57EA553-12CF-4F33-5A4F-378DFB4EB27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636328" y="365129"/>
            <a:ext cx="3186272" cy="358975"/>
          </a:xfrm>
        </p:spPr>
        <p:txBody>
          <a:bodyPr tIns="0" bIns="0">
            <a:noAutofit/>
          </a:bodyPr>
          <a:lstStyle/>
          <a:p>
            <a:pPr lvl="0"/>
            <a:r>
              <a:rPr lang="fr-FR" sz="1300"/>
              <a:t>INTEGRATION ISSUES</a:t>
            </a:r>
          </a:p>
        </p:txBody>
      </p:sp>
      <p:sp>
        <p:nvSpPr>
          <p:cNvPr id="12" name="Titre 11">
            <a:extLst>
              <a:ext uri="{FF2B5EF4-FFF2-40B4-BE49-F238E27FC236}">
                <a16:creationId xmlns:a16="http://schemas.microsoft.com/office/drawing/2014/main" id="{407AD71D-5E95-DA0F-BEC9-98CDC42C5D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9429" y="365130"/>
            <a:ext cx="6830842" cy="737530"/>
          </a:xfrm>
        </p:spPr>
        <p:txBody>
          <a:bodyPr/>
          <a:lstStyle/>
          <a:p>
            <a:pPr lvl="0"/>
            <a:r>
              <a:rPr lang="fr-FR"/>
              <a:t>Challenges &amp; Solutions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9E90A6-A8A8-5BD0-7F71-8B8F16A065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9689" y="1078278"/>
            <a:ext cx="4334932" cy="714663"/>
          </a:xfrm>
        </p:spPr>
        <p:txBody>
          <a:bodyPr/>
          <a:lstStyle/>
          <a:p>
            <a:pPr lvl="0"/>
            <a:r>
              <a:rPr lang="fr-FR" dirty="0"/>
              <a:t>Conclusion &amp; Q&amp;A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BE12432-6870-3244-70BF-1EC7056E3447}"/>
              </a:ext>
            </a:extLst>
          </p:cNvPr>
          <p:cNvSpPr txBox="1"/>
          <p:nvPr/>
        </p:nvSpPr>
        <p:spPr>
          <a:xfrm>
            <a:off x="11232096" y="478121"/>
            <a:ext cx="959909" cy="5627949"/>
          </a:xfrm>
          <a:prstGeom prst="rect">
            <a:avLst/>
          </a:prstGeom>
          <a:noFill/>
          <a:ln cap="flat">
            <a:noFill/>
          </a:ln>
        </p:spPr>
        <p:txBody>
          <a:bodyPr vert="vert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FF4D00"/>
                </a:solidFill>
                <a:uFillTx/>
                <a:latin typeface="Montserrat SemiBold" pitchFamily="2"/>
              </a:rPr>
              <a:t>Forest Fire Simulation App</a:t>
            </a:r>
            <a:endParaRPr lang="en-ID" sz="1200" b="0" i="0" u="none" strike="noStrike" kern="1200" cap="none" spc="0" baseline="0">
              <a:solidFill>
                <a:srgbClr val="FF4D00"/>
              </a:solidFill>
              <a:uFillTx/>
              <a:latin typeface="Montserrat SemiBold" pitchFamily="2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BCBD475-2F7D-5EE7-E894-C0DFC9995B93}"/>
              </a:ext>
            </a:extLst>
          </p:cNvPr>
          <p:cNvSpPr txBox="1"/>
          <p:nvPr/>
        </p:nvSpPr>
        <p:spPr>
          <a:xfrm>
            <a:off x="11232096" y="6159087"/>
            <a:ext cx="959909" cy="2737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CBD2932-4F0B-40E6-9D7C-4A3889DECFD7}" type="slidenum">
              <a:rPr lang="en-ID" sz="1200" b="0" i="0" u="none" strike="noStrike" kern="1200" cap="none" spc="0" baseline="0">
                <a:solidFill>
                  <a:srgbClr val="FF4D00"/>
                </a:solidFill>
                <a:uFillTx/>
                <a:latin typeface="Montserrat SemiBold" pitchFamily="2"/>
              </a:rPr>
              <a:t>8</a:t>
            </a:fld>
            <a:endParaRPr lang="en-ID" sz="1200" b="0" i="0" u="none" strike="noStrike" kern="1200" cap="none" spc="0" baseline="0">
              <a:solidFill>
                <a:srgbClr val="FF4D00"/>
              </a:solidFill>
              <a:uFillTx/>
              <a:latin typeface="Montserrat SemiBold" pitchFamily="2"/>
            </a:endParaRP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0F62BC04-1B0A-6898-A2C8-5C0409F6BB5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439689" y="3756995"/>
            <a:ext cx="4334932" cy="2022735"/>
          </a:xfrm>
        </p:spPr>
        <p:txBody>
          <a:bodyPr tIns="0" bIns="0">
            <a:noAutofit/>
          </a:bodyPr>
          <a:lstStyle/>
          <a:p>
            <a:pPr lvl="0"/>
            <a:r>
              <a:rPr lang="en-US" sz="1200" dirty="0"/>
              <a:t>The presentation covered the importance of simulating forest fires, functional and technical requirements, architecture, and challenges faced.</a:t>
            </a:r>
            <a:endParaRPr lang="fr-FR" sz="1200" dirty="0"/>
          </a:p>
        </p:txBody>
      </p:sp>
      <p:pic>
        <p:nvPicPr>
          <p:cNvPr id="5" name="Espace réservé pour une image  7">
            <a:extLst>
              <a:ext uri="{FF2B5EF4-FFF2-40B4-BE49-F238E27FC236}">
                <a16:creationId xmlns:a16="http://schemas.microsoft.com/office/drawing/2014/main" id="{D24106F3-BD51-2163-1197-8A8C2CEA77AF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2"/>
          <a:srcRect t="19751" b="19751"/>
          <a:stretch>
            <a:fillRect/>
          </a:stretch>
        </p:blipFill>
        <p:spPr>
          <a:xfrm>
            <a:off x="479429" y="1078278"/>
            <a:ext cx="5156502" cy="4701451"/>
          </a:xfrm>
        </p:spPr>
      </p:pic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EB94D378-3F68-BD72-2CF0-AEBE492396D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439689" y="3365659"/>
            <a:ext cx="4334932" cy="329494"/>
          </a:xfrm>
        </p:spPr>
        <p:txBody>
          <a:bodyPr tIns="0" bIns="0">
            <a:noAutofit/>
          </a:bodyPr>
          <a:lstStyle/>
          <a:p>
            <a:pPr lvl="0"/>
            <a:r>
              <a:rPr lang="fr-FR" sz="1600" b="1" dirty="0"/>
              <a:t>SUMMARY OF KEY POINTS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6A02B0-1744-AFC4-7DA7-A5B075FD7AAE}"/>
              </a:ext>
            </a:extLst>
          </p:cNvPr>
          <p:cNvSpPr/>
          <p:nvPr/>
        </p:nvSpPr>
        <p:spPr>
          <a:xfrm>
            <a:off x="7040908" y="6413500"/>
            <a:ext cx="4263586" cy="444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olis">
  <a:themeElements>
    <a:clrScheme name="Colis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Colis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olis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282B6DC-59DE-4B7D-BB06-6DB873C9BD31}">
  <we:reference id="wa200005566" version="3.0.0.2" store="fr-FR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501</Words>
  <Application>Microsoft Office PowerPoint</Application>
  <PresentationFormat>Grand écran</PresentationFormat>
  <Paragraphs>102</Paragraphs>
  <Slides>8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8</vt:i4>
      </vt:variant>
    </vt:vector>
  </HeadingPairs>
  <TitlesOfParts>
    <vt:vector size="19" baseType="lpstr">
      <vt:lpstr>Aptos</vt:lpstr>
      <vt:lpstr>Aptos Display</vt:lpstr>
      <vt:lpstr>Arial</vt:lpstr>
      <vt:lpstr>Canva Sans</vt:lpstr>
      <vt:lpstr>Gill Sans MT</vt:lpstr>
      <vt:lpstr>Montserrat ExtraBold</vt:lpstr>
      <vt:lpstr>Montserrat SemiBold</vt:lpstr>
      <vt:lpstr>Open Sans</vt:lpstr>
      <vt:lpstr>Wingdings</vt:lpstr>
      <vt:lpstr>Thème Office</vt:lpstr>
      <vt:lpstr>Colis</vt:lpstr>
      <vt:lpstr>Forest Fire Simulation App</vt:lpstr>
      <vt:lpstr>Context &amp; Objectives</vt:lpstr>
      <vt:lpstr>Présentation PowerPoint</vt:lpstr>
      <vt:lpstr>Présentation PowerPoint</vt:lpstr>
      <vt:lpstr>Application Architecture</vt:lpstr>
      <vt:lpstr>Application Architecture</vt:lpstr>
      <vt:lpstr>Challenges &amp; Solutions</vt:lpstr>
      <vt:lpstr>Conclusion &amp; 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Cyril sauret</dc:creator>
  <cp:lastModifiedBy>Cyril sauret</cp:lastModifiedBy>
  <cp:revision>10</cp:revision>
  <dcterms:created xsi:type="dcterms:W3CDTF">2024-12-18T09:36:49Z</dcterms:created>
  <dcterms:modified xsi:type="dcterms:W3CDTF">2024-12-21T12:47:54Z</dcterms:modified>
</cp:coreProperties>
</file>